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4" r:id="rId1"/>
    <p:sldMasterId id="2147483665" r:id="rId2"/>
  </p:sldMasterIdLst>
  <p:notesMasterIdLst>
    <p:notesMasterId r:id="rId21"/>
  </p:notesMasterIdLst>
  <p:sldIdLst>
    <p:sldId id="256" r:id="rId3"/>
    <p:sldId id="257" r:id="rId4"/>
    <p:sldId id="258" r:id="rId5"/>
    <p:sldId id="259" r:id="rId6"/>
    <p:sldId id="260" r:id="rId7"/>
    <p:sldId id="261" r:id="rId8"/>
    <p:sldId id="262" r:id="rId9"/>
    <p:sldId id="263" r:id="rId10"/>
    <p:sldId id="269" r:id="rId11"/>
    <p:sldId id="265" r:id="rId12"/>
    <p:sldId id="268" r:id="rId13"/>
    <p:sldId id="270" r:id="rId14"/>
    <p:sldId id="271" r:id="rId15"/>
    <p:sldId id="272" r:id="rId16"/>
    <p:sldId id="273" r:id="rId17"/>
    <p:sldId id="274" r:id="rId18"/>
    <p:sldId id="275" r:id="rId19"/>
    <p:sldId id="264" r:id="rId20"/>
  </p:sldIdLst>
  <p:sldSz cx="9144000" cy="5143500" type="screen16x9"/>
  <p:notesSz cx="6858000" cy="9144000"/>
  <p:embeddedFontLst>
    <p:embeddedFont>
      <p:font typeface="Inter" panose="02000503000000020004" pitchFamily="2" charset="0"/>
      <p:regular r:id="rId22"/>
      <p:bold r:id="rId23"/>
      <p:italic r:id="rId24"/>
      <p:boldItalic r:id="rId25"/>
    </p:embeddedFont>
    <p:embeddedFont>
      <p:font typeface="Montserrat" pitchFamily="2" charset="77"/>
      <p:regular r:id="rId26"/>
      <p:bold r:id="rId27"/>
      <p:italic r:id="rId28"/>
      <p:boldItalic r:id="rId29"/>
    </p:embeddedFont>
    <p:embeddedFont>
      <p:font typeface="Open Sans" panose="020B0606030504020204" pitchFamily="34" charset="0"/>
      <p:regular r:id="rId30"/>
      <p:bold r:id="rId31"/>
      <p:italic r:id="rId32"/>
      <p:boldItalic r:id="rId33"/>
    </p:embeddedFont>
    <p:embeddedFont>
      <p:font typeface="Open Sans Medium" pitchFamily="2" charset="0"/>
      <p:regular r:id="rId34"/>
      <p:bold r:id="rId35"/>
      <p:italic r:id="rId36"/>
      <p:boldItalic r:id="rId37"/>
    </p:embeddedFont>
    <p:embeddedFont>
      <p:font typeface="Open Sans SemiBold" panose="020B0706030804020204" pitchFamily="34" charset="0"/>
      <p:regular r:id="rId38"/>
      <p:bold r:id="rId39"/>
      <p:italic r:id="rId40"/>
      <p:boldItalic r:id="rId41"/>
    </p:embeddedFont>
    <p:embeddedFont>
      <p:font typeface="Roboto"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4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4D0445-0F65-5049-8A5A-3444589DB2CD}" v="2" dt="2026-03-12T14:39:48.6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78"/>
    <p:restoredTop sz="94609"/>
  </p:normalViewPr>
  <p:slideViewPr>
    <p:cSldViewPr snapToGrid="0">
      <p:cViewPr varScale="1">
        <p:scale>
          <a:sx n="167" d="100"/>
          <a:sy n="167" d="100"/>
        </p:scale>
        <p:origin x="176" y="744"/>
      </p:cViewPr>
      <p:guideLst>
        <p:guide orient="horz" pos="164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8.fntdata"/><Relationship Id="rId11" Type="http://schemas.openxmlformats.org/officeDocument/2006/relationships/slide" Target="slides/slide9.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45" Type="http://schemas.openxmlformats.org/officeDocument/2006/relationships/font" Target="fonts/font24.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0.fntdata"/><Relationship Id="rId44" Type="http://schemas.openxmlformats.org/officeDocument/2006/relationships/font" Target="fonts/font2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4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latin typeface="Arial"/>
                <a:ea typeface="Arial"/>
                <a:cs typeface="Arial"/>
                <a:sym typeface="Arial"/>
              </a:defRPr>
            </a:lvl5pPr>
            <a:lvl6pPr marL="2743200" marR="0" lvl="5" indent="-228600" algn="l" rtl="0">
              <a:spcBef>
                <a:spcPts val="0"/>
              </a:spcBef>
              <a:spcAft>
                <a:spcPts val="0"/>
              </a:spcAft>
              <a:buSzPts val="1400"/>
              <a:buNone/>
              <a:defRPr sz="1400" b="0" i="0" u="none" strike="noStrike" cap="none">
                <a:latin typeface="Arial"/>
                <a:ea typeface="Arial"/>
                <a:cs typeface="Arial"/>
                <a:sym typeface="Arial"/>
              </a:defRPr>
            </a:lvl6pPr>
            <a:lvl7pPr marL="3200400" marR="0" lvl="6" indent="-228600" algn="l" rtl="0">
              <a:spcBef>
                <a:spcPts val="0"/>
              </a:spcBef>
              <a:spcAft>
                <a:spcPts val="0"/>
              </a:spcAft>
              <a:buSzPts val="1400"/>
              <a:buNone/>
              <a:defRPr sz="1400" b="0" i="0" u="none" strike="noStrike" cap="none">
                <a:latin typeface="Arial"/>
                <a:ea typeface="Arial"/>
                <a:cs typeface="Arial"/>
                <a:sym typeface="Arial"/>
              </a:defRPr>
            </a:lvl7pPr>
            <a:lvl8pPr marL="3657600" marR="0" lvl="7" indent="-228600" algn="l" rtl="0">
              <a:spcBef>
                <a:spcPts val="0"/>
              </a:spcBef>
              <a:spcAft>
                <a:spcPts val="0"/>
              </a:spcAft>
              <a:buSzPts val="1400"/>
              <a:buNone/>
              <a:defRPr sz="1400" b="0" i="0" u="none" strike="noStrike" cap="none">
                <a:latin typeface="Arial"/>
                <a:ea typeface="Arial"/>
                <a:cs typeface="Arial"/>
                <a:sym typeface="Arial"/>
              </a:defRPr>
            </a:lvl8pPr>
            <a:lvl9pPr marL="4114800" marR="0" lvl="8" indent="-228600" algn="l" rtl="0">
              <a:spcBef>
                <a:spcPts val="0"/>
              </a:spcBef>
              <a:spcAft>
                <a:spcPts val="0"/>
              </a:spcAft>
              <a:buSzPts val="1400"/>
              <a:buNone/>
              <a:defRPr sz="1400" b="0" i="0" u="none" strike="noStrike" cap="none">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atatracker.ietf.org/meeting/120/materials/slides-120-eodir-sessb-note-well-dos-and-donts"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7179d949db_7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7179d949db_7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200">
                <a:solidFill>
                  <a:srgbClr val="424242"/>
                </a:solidFill>
                <a:highlight>
                  <a:srgbClr val="FFFFFF"/>
                </a:highlight>
                <a:latin typeface="Roboto"/>
                <a:ea typeface="Roboto"/>
                <a:cs typeface="Roboto"/>
                <a:sym typeface="Roboto"/>
              </a:rPr>
              <a:t>The IETF Note Well should be shown at the start of every IETF working session. The guidance below is </a:t>
            </a:r>
            <a:r>
              <a:rPr lang="en-US" sz="1200" u="sng">
                <a:solidFill>
                  <a:srgbClr val="1976D2"/>
                </a:solidFill>
                <a:latin typeface="Roboto"/>
                <a:ea typeface="Roboto"/>
                <a:cs typeface="Roboto"/>
                <a:sym typeface="Roboto"/>
                <a:hlinkClick r:id="rId3">
                  <a:extLst>
                    <a:ext uri="{A12FA001-AC4F-418D-AE19-62706E023703}">
                      <ahyp:hlinkClr xmlns:ahyp="http://schemas.microsoft.com/office/drawing/2018/hyperlinkcolor" val="tx"/>
                    </a:ext>
                  </a:extLst>
                </a:hlinkClick>
              </a:rPr>
              <a:t>adapted from IETF legal counsel presentation during IETF 120</a:t>
            </a: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None/>
            </a:pP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1B5E20"/>
                </a:solidFill>
                <a:highlight>
                  <a:srgbClr val="E8F5E9"/>
                </a:highlight>
                <a:latin typeface="Roboto"/>
                <a:ea typeface="Roboto"/>
                <a:cs typeface="Roboto"/>
                <a:sym typeface="Roboto"/>
              </a:rPr>
              <a:t>DO</a:t>
            </a:r>
            <a:endParaRPr sz="1200">
              <a:solidFill>
                <a:srgbClr val="1B5E20"/>
              </a:solidFill>
              <a:highlight>
                <a:srgbClr val="E8F5E9"/>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make sure people have enough time to read through the slide before you move on,</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give a high-level summary of what’s covered in the Note Well: “IETF policies on conduct, privacy and IPR.”,</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encourage people to read through all the linked policies &amp; documents in detail before participating or contributing,</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explain where people can direct questions or concerns (IETF Executive Director or Ombudsteam).</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B33F00"/>
                </a:solidFill>
                <a:highlight>
                  <a:srgbClr val="FFF3E0"/>
                </a:highlight>
                <a:latin typeface="Roboto"/>
                <a:ea typeface="Roboto"/>
                <a:cs typeface="Roboto"/>
                <a:sym typeface="Roboto"/>
              </a:rPr>
              <a:t>DON'T</a:t>
            </a:r>
            <a:endParaRPr sz="1200">
              <a:solidFill>
                <a:srgbClr val="B33F00"/>
              </a:solidFill>
              <a:highlight>
                <a:srgbClr val="FFF3E0"/>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dismiss the importance or relevance of any of the information on the Note Well.</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interpret the meaning or get into the substance of any of the topics or content of the policies.</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communicate that the Note Well conveys all the information participants need to know.</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address questions or concerns in the meeting itself.</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1200">
              <a:solidFill>
                <a:srgbClr val="424242"/>
              </a:solidFill>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rgbClr val="002D3C"/>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754464" y="2104950"/>
            <a:ext cx="7635072" cy="933600"/>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4200"/>
              <a:buFont typeface="Inter"/>
              <a:buNone/>
              <a:defRPr sz="4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11" name="Google Shape;11;p2"/>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2"/>
          <p:cNvSpPr/>
          <p:nvPr/>
        </p:nvSpPr>
        <p:spPr>
          <a:xfrm>
            <a:off x="-125" y="4147975"/>
            <a:ext cx="9144001" cy="995701"/>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pic>
        <p:nvPicPr>
          <p:cNvPr id="13" name="Google Shape;13;p2" descr="Shape 14"/>
          <p:cNvPicPr preferRelativeResize="0"/>
          <p:nvPr/>
        </p:nvPicPr>
        <p:blipFill rotWithShape="1">
          <a:blip r:embed="rId2">
            <a:alphaModFix/>
          </a:blip>
          <a:srcRect/>
          <a:stretch/>
        </p:blipFill>
        <p:spPr>
          <a:xfrm>
            <a:off x="7440438" y="4312261"/>
            <a:ext cx="1256176" cy="6671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bg>
      <p:bgPr>
        <a:solidFill>
          <a:srgbClr val="002D3C"/>
        </a:solidFill>
        <a:effectLst/>
      </p:bgPr>
    </p:bg>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1pPr>
            <a:lvl2pPr marL="0" marR="0" lvl="1"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2pPr>
            <a:lvl3pPr marL="0" marR="0" lvl="2"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3pPr>
            <a:lvl4pPr marL="0" marR="0" lvl="3"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4pPr>
            <a:lvl5pPr marL="0" marR="0" lvl="4"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5pPr>
            <a:lvl6pPr marL="0" marR="0" lvl="5"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6pPr>
            <a:lvl7pPr marL="0" marR="0" lvl="6"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7pPr>
            <a:lvl8pPr marL="0" marR="0" lvl="7"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8pPr>
            <a:lvl9pPr marL="0" marR="0" lvl="8"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bg>
      <p:bgPr>
        <a:solidFill>
          <a:srgbClr val="002D3C"/>
        </a:solidFill>
        <a:effectLst/>
      </p:bgPr>
    </p:bg>
    <p:spTree>
      <p:nvGrpSpPr>
        <p:cNvPr id="1" name="Shape 22"/>
        <p:cNvGrpSpPr/>
        <p:nvPr/>
      </p:nvGrpSpPr>
      <p:grpSpPr>
        <a:xfrm>
          <a:off x="0" y="0"/>
          <a:ext cx="0" cy="0"/>
          <a:chOff x="0" y="0"/>
          <a:chExt cx="0" cy="0"/>
        </a:xfrm>
      </p:grpSpPr>
      <p:sp>
        <p:nvSpPr>
          <p:cNvPr id="23" name="Google Shape;23;p5"/>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4" name="Google Shape;24;p5"/>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5" name="Google Shape;25;p5"/>
          <p:cNvSpPr txBox="1">
            <a:spLocks noGrp="1"/>
          </p:cNvSpPr>
          <p:nvPr>
            <p:ph type="title"/>
          </p:nvPr>
        </p:nvSpPr>
        <p:spPr>
          <a:xfrm>
            <a:off x="471900" y="738725"/>
            <a:ext cx="8222100" cy="767701"/>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26" name="Google Shape;26;p5"/>
          <p:cNvSpPr txBox="1">
            <a:spLocks noGrp="1"/>
          </p:cNvSpPr>
          <p:nvPr>
            <p:ph type="body" idx="1"/>
          </p:nvPr>
        </p:nvSpPr>
        <p:spPr>
          <a:xfrm>
            <a:off x="471900" y="1919074"/>
            <a:ext cx="3999901" cy="2710201"/>
          </a:xfrm>
          <a:prstGeom prst="rect">
            <a:avLst/>
          </a:prstGeom>
          <a:noFill/>
          <a:ln>
            <a:noFill/>
          </a:ln>
        </p:spPr>
        <p:txBody>
          <a:bodyPr spcFirstLastPara="1" wrap="square" lIns="91400" tIns="91400" rIns="91400" bIns="91400" anchor="t" anchorCtr="0">
            <a:noAutofit/>
          </a:bodyPr>
          <a:lstStyle>
            <a:lvl1pPr marL="457200" marR="0" lvl="0"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1pPr>
            <a:lvl2pPr marL="914400" marR="0" lvl="1"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2pPr>
            <a:lvl3pPr marL="1371600" marR="0" lvl="2"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3pPr>
            <a:lvl4pPr marL="1828800" marR="0" lvl="3"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4pPr>
            <a:lvl5pPr marL="2286000" marR="0" lvl="4"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7" name="Google Shape;27;p5"/>
          <p:cNvSpPr txBox="1">
            <a:spLocks noGrp="1"/>
          </p:cNvSpPr>
          <p:nvPr>
            <p:ph type="body" idx="2"/>
          </p:nvPr>
        </p:nvSpPr>
        <p:spPr>
          <a:xfrm>
            <a:off x="4694249" y="1919074"/>
            <a:ext cx="3999901" cy="2710201"/>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1pPr>
            <a:lvl2pPr marL="914400" marR="0" lvl="1"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2pPr>
            <a:lvl3pPr marL="1371600" marR="0" lvl="2"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3pPr>
            <a:lvl4pPr marL="1828800" marR="0" lvl="3"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4pPr>
            <a:lvl5pPr marL="2286000" marR="0" lvl="4"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8" name="Google Shape;28;p5"/>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in title" type="titleOnly">
  <p:cSld name="TITLE_ONLY">
    <p:bg>
      <p:bgPr>
        <a:solidFill>
          <a:srgbClr val="002D3C"/>
        </a:solidFill>
        <a:effectLst/>
      </p:bgPr>
    </p:bg>
    <p:spTree>
      <p:nvGrpSpPr>
        <p:cNvPr id="1" name="Shape 29"/>
        <p:cNvGrpSpPr/>
        <p:nvPr/>
      </p:nvGrpSpPr>
      <p:grpSpPr>
        <a:xfrm>
          <a:off x="0" y="0"/>
          <a:ext cx="0" cy="0"/>
          <a:chOff x="0" y="0"/>
          <a:chExt cx="0" cy="0"/>
        </a:xfrm>
      </p:grpSpPr>
      <p:sp>
        <p:nvSpPr>
          <p:cNvPr id="30" name="Google Shape;30;p6"/>
          <p:cNvSpPr/>
          <p:nvPr/>
        </p:nvSpPr>
        <p:spPr>
          <a:xfrm rot="10800000" flipH="1">
            <a:off x="0" y="770474"/>
            <a:ext cx="9144000" cy="43803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31" name="Google Shape;31;p6"/>
          <p:cNvSpPr txBox="1">
            <a:spLocks noGrp="1"/>
          </p:cNvSpPr>
          <p:nvPr>
            <p:ph type="title"/>
          </p:nvPr>
        </p:nvSpPr>
        <p:spPr>
          <a:xfrm>
            <a:off x="158699" y="61427"/>
            <a:ext cx="8826600" cy="602700"/>
          </a:xfrm>
          <a:prstGeom prst="rect">
            <a:avLst/>
          </a:prstGeom>
          <a:noFill/>
          <a:ln>
            <a:noFill/>
          </a:ln>
        </p:spPr>
        <p:txBody>
          <a:bodyPr spcFirstLastPara="1" wrap="square" lIns="91400" tIns="91400" rIns="91400" bIns="91400" anchor="ctr" anchorCtr="0">
            <a:noAutofit/>
          </a:bodyPr>
          <a:lstStyle>
            <a:lvl1pPr marR="0" lvl="0" algn="l" rtl="0">
              <a:lnSpc>
                <a:spcPct val="100000"/>
              </a:lnSpc>
              <a:spcBef>
                <a:spcPts val="0"/>
              </a:spcBef>
              <a:spcAft>
                <a:spcPts val="0"/>
              </a:spcAft>
              <a:buClr>
                <a:srgbClr val="FFFFFF"/>
              </a:buClr>
              <a:buSzPts val="2400"/>
              <a:buFont typeface="Inter"/>
              <a:buNone/>
              <a:defRPr sz="24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32" name="Google Shape;32;p6"/>
          <p:cNvSpPr txBox="1">
            <a:spLocks noGrp="1"/>
          </p:cNvSpPr>
          <p:nvPr>
            <p:ph type="body" idx="1"/>
          </p:nvPr>
        </p:nvSpPr>
        <p:spPr>
          <a:xfrm>
            <a:off x="460950" y="1001775"/>
            <a:ext cx="8222100" cy="376530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33" name="Google Shape;33;p6"/>
          <p:cNvSpPr txBox="1">
            <a:spLocks noGrp="1"/>
          </p:cNvSpPr>
          <p:nvPr>
            <p:ph type="sldNum" idx="12"/>
          </p:nvPr>
        </p:nvSpPr>
        <p:spPr>
          <a:xfrm>
            <a:off x="8735428" y="4724798"/>
            <a:ext cx="336900" cy="335400"/>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9"/>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p:nvPr/>
        </p:nvSpPr>
        <p:spPr>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9"/>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43" name="Google Shape;43;p9"/>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44" name="Google Shape;44;p9"/>
          <p:cNvPicPr preferRelativeResize="0"/>
          <p:nvPr/>
        </p:nvPicPr>
        <p:blipFill rotWithShape="1">
          <a:blip r:embed="rId2">
            <a:alphaModFix/>
          </a:blip>
          <a:srcRect/>
          <a:stretch/>
        </p:blipFill>
        <p:spPr>
          <a:xfrm>
            <a:off x="7922625" y="4520234"/>
            <a:ext cx="830437" cy="47450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5"/>
        <p:cNvGrpSpPr/>
        <p:nvPr/>
      </p:nvGrpSpPr>
      <p:grpSpPr>
        <a:xfrm>
          <a:off x="0" y="0"/>
          <a:ext cx="0" cy="0"/>
          <a:chOff x="0" y="0"/>
          <a:chExt cx="0" cy="0"/>
        </a:xfrm>
      </p:grpSpPr>
      <p:sp>
        <p:nvSpPr>
          <p:cNvPr id="46" name="Google Shape;46;p10"/>
          <p:cNvSpPr txBox="1">
            <a:spLocks noGrp="1"/>
          </p:cNvSpPr>
          <p:nvPr>
            <p:ph type="ctrTitle"/>
          </p:nvPr>
        </p:nvSpPr>
        <p:spPr>
          <a:xfrm>
            <a:off x="390525" y="1819275"/>
            <a:ext cx="8222100" cy="9335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800"/>
              <a:buFont typeface="Open Sans"/>
              <a:buNone/>
              <a:defRPr sz="38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9pPr>
          </a:lstStyle>
          <a:p>
            <a:endParaRPr/>
          </a:p>
        </p:txBody>
      </p:sp>
      <p:sp>
        <p:nvSpPr>
          <p:cNvPr id="47" name="Google Shape;47;p10"/>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1pPr>
            <a:lvl2pPr marR="0" lvl="1"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2pPr>
            <a:lvl3pPr marR="0" lvl="2"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3pPr>
            <a:lvl4pPr marR="0" lvl="3"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4pPr>
            <a:lvl5pPr marR="0" lvl="4"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5pPr>
            <a:lvl6pPr marR="0" lvl="5"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6pPr>
            <a:lvl7pPr marR="0" lvl="6"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7pPr>
            <a:lvl8pPr marR="0" lvl="7"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8pPr>
            <a:lvl9pPr marR="0" lvl="8"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9pPr>
          </a:lstStyle>
          <a:p>
            <a:endParaRPr/>
          </a:p>
        </p:txBody>
      </p:sp>
      <p:sp>
        <p:nvSpPr>
          <p:cNvPr id="48" name="Google Shape;48;p10"/>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49" name="Google Shape;49;p10"/>
          <p:cNvSpPr/>
          <p:nvPr/>
        </p:nvSpPr>
        <p:spPr>
          <a:xfrm>
            <a:off x="-125" y="4147975"/>
            <a:ext cx="9144000" cy="995625"/>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0" name="Google Shape;50;p10"/>
          <p:cNvPicPr preferRelativeResize="0"/>
          <p:nvPr/>
        </p:nvPicPr>
        <p:blipFill rotWithShape="1">
          <a:blip r:embed="rId2">
            <a:alphaModFix/>
          </a:blip>
          <a:srcRect/>
          <a:stretch/>
        </p:blipFill>
        <p:spPr>
          <a:xfrm>
            <a:off x="7655588" y="4312262"/>
            <a:ext cx="942131" cy="500344"/>
          </a:xfrm>
          <a:prstGeom prst="rect">
            <a:avLst/>
          </a:prstGeom>
          <a:noFill/>
          <a:ln>
            <a:noFill/>
          </a:ln>
        </p:spPr>
      </p:pic>
      <p:sp>
        <p:nvSpPr>
          <p:cNvPr id="51" name="Google Shape;51;p10"/>
          <p:cNvSpPr txBox="1"/>
          <p:nvPr/>
        </p:nvSpPr>
        <p:spPr>
          <a:xfrm>
            <a:off x="381005" y="4507324"/>
            <a:ext cx="2750400" cy="2769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Montserrat"/>
                <a:ea typeface="Montserrat"/>
                <a:cs typeface="Montserrat"/>
                <a:sym typeface="Montserrat"/>
              </a:rPr>
              <a:t>Making the Internet work better</a:t>
            </a:r>
            <a:endParaRPr sz="1200" b="0" i="0" u="none" strike="noStrike" cap="none">
              <a:solidFill>
                <a:schemeClr val="lt2"/>
              </a:solidFill>
              <a:latin typeface="Montserrat"/>
              <a:ea typeface="Montserrat"/>
              <a:cs typeface="Montserrat"/>
              <a:sym typeface="Montserra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2"/>
        <p:cNvGrpSpPr/>
        <p:nvPr/>
      </p:nvGrpSpPr>
      <p:grpSpPr>
        <a:xfrm>
          <a:off x="0" y="0"/>
          <a:ext cx="0" cy="0"/>
          <a:chOff x="0" y="0"/>
          <a:chExt cx="0" cy="0"/>
        </a:xfrm>
      </p:grpSpPr>
      <p:sp>
        <p:nvSpPr>
          <p:cNvPr id="53" name="Google Shape;53;p11"/>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11"/>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SemiBold"/>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56" name="Google Shape;56;p11"/>
          <p:cNvSpPr txBox="1">
            <a:spLocks noGrp="1"/>
          </p:cNvSpPr>
          <p:nvPr>
            <p:ph type="body" idx="1"/>
          </p:nvPr>
        </p:nvSpPr>
        <p:spPr>
          <a:xfrm>
            <a:off x="627500" y="1794600"/>
            <a:ext cx="8066400" cy="2710125"/>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2pPr>
            <a:lvl3pPr marL="1371600" marR="0" lvl="2"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3pPr>
            <a:lvl4pPr marL="1828800" marR="0" lvl="3"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4pPr>
            <a:lvl5pPr marL="2286000" marR="0" lvl="4"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5pPr>
            <a:lvl6pPr marL="2743200" marR="0" lvl="5"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6pPr>
            <a:lvl7pPr marL="3200400" marR="0" lvl="6"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7pPr>
            <a:lvl8pPr marL="3657600" marR="0" lvl="7"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9pPr>
          </a:lstStyle>
          <a:p>
            <a:endParaRPr/>
          </a:p>
        </p:txBody>
      </p:sp>
      <p:sp>
        <p:nvSpPr>
          <p:cNvPr id="57" name="Google Shape;57;p11"/>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58" name="Google Shape;58;p11"/>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9"/>
        <p:cNvGrpSpPr/>
        <p:nvPr/>
      </p:nvGrpSpPr>
      <p:grpSpPr>
        <a:xfrm>
          <a:off x="0" y="0"/>
          <a:ext cx="0" cy="0"/>
          <a:chOff x="0" y="0"/>
          <a:chExt cx="0" cy="0"/>
        </a:xfrm>
      </p:grpSpPr>
      <p:sp>
        <p:nvSpPr>
          <p:cNvPr id="60" name="Google Shape;60;p12"/>
          <p:cNvSpPr txBox="1">
            <a:spLocks noGrp="1"/>
          </p:cNvSpPr>
          <p:nvPr>
            <p:ph type="title"/>
          </p:nvPr>
        </p:nvSpPr>
        <p:spPr>
          <a:xfrm>
            <a:off x="460950" y="2065350"/>
            <a:ext cx="8222100" cy="1012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4200"/>
              <a:buFont typeface="Open Sans"/>
              <a:buNone/>
              <a:defRPr sz="4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9pPr>
          </a:lstStyle>
          <a:p>
            <a:endParaRPr/>
          </a:p>
        </p:txBody>
      </p:sp>
      <p:sp>
        <p:nvSpPr>
          <p:cNvPr id="61" name="Google Shape;61;p12"/>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2"/>
        <p:cNvGrpSpPr/>
        <p:nvPr/>
      </p:nvGrpSpPr>
      <p:grpSpPr>
        <a:xfrm>
          <a:off x="0" y="0"/>
          <a:ext cx="0" cy="0"/>
          <a:chOff x="0" y="0"/>
          <a:chExt cx="0" cy="0"/>
        </a:xfrm>
      </p:grpSpPr>
      <p:sp>
        <p:nvSpPr>
          <p:cNvPr id="63" name="Google Shape;63;p13"/>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13"/>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13"/>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66" name="Google Shape;66;p13"/>
          <p:cNvSpPr txBox="1">
            <a:spLocks noGrp="1"/>
          </p:cNvSpPr>
          <p:nvPr>
            <p:ph type="body" idx="1"/>
          </p:nvPr>
        </p:nvSpPr>
        <p:spPr>
          <a:xfrm>
            <a:off x="47190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7" name="Google Shape;67;p13"/>
          <p:cNvSpPr txBox="1">
            <a:spLocks noGrp="1"/>
          </p:cNvSpPr>
          <p:nvPr>
            <p:ph type="body" idx="2"/>
          </p:nvPr>
        </p:nvSpPr>
        <p:spPr>
          <a:xfrm>
            <a:off x="469425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8" name="Google Shape;68;p13"/>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pic>
        <p:nvPicPr>
          <p:cNvPr id="69" name="Google Shape;69;p13"/>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14"/>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14"/>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14"/>
          <p:cNvSpPr txBox="1">
            <a:spLocks noGrp="1"/>
          </p:cNvSpPr>
          <p:nvPr>
            <p:ph type="title"/>
          </p:nvPr>
        </p:nvSpPr>
        <p:spPr>
          <a:xfrm>
            <a:off x="226078" y="357800"/>
            <a:ext cx="2808000" cy="9533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2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9pPr>
          </a:lstStyle>
          <a:p>
            <a:endParaRPr/>
          </a:p>
        </p:txBody>
      </p:sp>
      <p:sp>
        <p:nvSpPr>
          <p:cNvPr id="74" name="Google Shape;74;p14"/>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marR="0" lvl="0" indent="-304800" algn="l">
              <a:lnSpc>
                <a:spcPct val="115000"/>
              </a:lnSpc>
              <a:spcBef>
                <a:spcPts val="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9pPr>
          </a:lstStyle>
          <a:p>
            <a:endParaRPr/>
          </a:p>
        </p:txBody>
      </p:sp>
      <p:sp>
        <p:nvSpPr>
          <p:cNvPr id="75" name="Google Shape;75;p14"/>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490250" y="488250"/>
            <a:ext cx="6227100" cy="4090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5200"/>
              <a:buFont typeface="Open Sans"/>
              <a:buNone/>
              <a:defRPr sz="5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9pPr>
          </a:lstStyle>
          <a:p>
            <a:endParaRPr/>
          </a:p>
        </p:txBody>
      </p:sp>
      <p:sp>
        <p:nvSpPr>
          <p:cNvPr id="78" name="Google Shape;78;p15"/>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9"/>
        <p:cNvGrpSpPr/>
        <p:nvPr/>
      </p:nvGrpSpPr>
      <p:grpSpPr>
        <a:xfrm>
          <a:off x="0" y="0"/>
          <a:ext cx="0" cy="0"/>
          <a:chOff x="0" y="0"/>
          <a:chExt cx="0" cy="0"/>
        </a:xfrm>
      </p:grpSpPr>
      <p:sp>
        <p:nvSpPr>
          <p:cNvPr id="80" name="Google Shape;80;p16"/>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rot="5400000">
            <a:off x="1946462" y="2517713"/>
            <a:ext cx="5142825"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4200"/>
              <a:buFont typeface="Arial"/>
              <a:buNone/>
              <a:defRPr sz="42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9pPr>
          </a:lstStyle>
          <a:p>
            <a:endParaRPr/>
          </a:p>
        </p:txBody>
      </p:sp>
      <p:sp>
        <p:nvSpPr>
          <p:cNvPr id="83" name="Google Shape;83;p16"/>
          <p:cNvSpPr txBox="1">
            <a:spLocks noGrp="1"/>
          </p:cNvSpPr>
          <p:nvPr>
            <p:ph type="subTitle" idx="1"/>
          </p:nvPr>
        </p:nvSpPr>
        <p:spPr>
          <a:xfrm>
            <a:off x="265500" y="2779467"/>
            <a:ext cx="4045200" cy="1235025"/>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1pPr>
            <a:lvl2pPr marR="0" lvl="1"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2pPr>
            <a:lvl3pPr marR="0" lvl="2"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3pPr>
            <a:lvl4pPr marR="0" lvl="3"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4pPr>
            <a:lvl5pPr marR="0" lvl="4"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5pPr>
            <a:lvl6pPr marR="0" lvl="5"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6pPr>
            <a:lvl7pPr marR="0" lvl="6"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7pPr>
            <a:lvl8pPr marR="0" lvl="7"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8pPr>
            <a:lvl9pPr marR="0" lvl="8"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9pPr>
          </a:lstStyle>
          <a:p>
            <a:endParaRPr/>
          </a:p>
        </p:txBody>
      </p:sp>
      <p:sp>
        <p:nvSpPr>
          <p:cNvPr id="84" name="Google Shape;84;p16"/>
          <p:cNvSpPr txBox="1">
            <a:spLocks noGrp="1"/>
          </p:cNvSpPr>
          <p:nvPr>
            <p:ph type="body" idx="2"/>
          </p:nvPr>
        </p:nvSpPr>
        <p:spPr>
          <a:xfrm>
            <a:off x="4939500" y="724200"/>
            <a:ext cx="3837000" cy="3695175"/>
          </a:xfrm>
          <a:prstGeom prst="rect">
            <a:avLst/>
          </a:prstGeom>
          <a:noFill/>
          <a:ln>
            <a:noFill/>
          </a:ln>
        </p:spPr>
        <p:txBody>
          <a:bodyPr spcFirstLastPara="1" wrap="square" lIns="91425" tIns="91425" rIns="91425" bIns="91425" anchor="ctr" anchorCtr="0">
            <a:noAutofit/>
          </a:bodyPr>
          <a:lstStyle>
            <a:lvl1pPr marL="457200" marR="0" lvl="0" indent="-342900" algn="l">
              <a:lnSpc>
                <a:spcPct val="115000"/>
              </a:lnSpc>
              <a:spcBef>
                <a:spcPts val="0"/>
              </a:spcBef>
              <a:spcAft>
                <a:spcPts val="0"/>
              </a:spcAft>
              <a:buClr>
                <a:schemeClr val="lt1"/>
              </a:buClr>
              <a:buSzPts val="1800"/>
              <a:buFont typeface="Montserrat"/>
              <a:buChar char="●"/>
              <a:defRPr sz="1800" b="0" i="0" u="none" strike="noStrike" cap="none">
                <a:solidFill>
                  <a:schemeClr val="lt1"/>
                </a:solidFill>
                <a:latin typeface="Montserrat"/>
                <a:ea typeface="Montserrat"/>
                <a:cs typeface="Montserrat"/>
                <a:sym typeface="Montserrat"/>
              </a:defRPr>
            </a:lvl1pPr>
            <a:lvl2pPr marL="914400" marR="0" lvl="1"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endParaRPr/>
          </a:p>
        </p:txBody>
      </p:sp>
      <p:sp>
        <p:nvSpPr>
          <p:cNvPr id="85" name="Google Shape;85;p16"/>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17"/>
          <p:cNvSpPr txBox="1"/>
          <p:nvPr/>
        </p:nvSpPr>
        <p:spPr>
          <a:xfrm rot="10800000" flipH="1">
            <a:off x="0" y="-75"/>
            <a:ext cx="9144000" cy="46959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7"/>
          <p:cNvSpPr/>
          <p:nvPr/>
        </p:nvSpPr>
        <p:spPr>
          <a:xfrm rot="10800000" flipH="1">
            <a:off x="0" y="4622800"/>
            <a:ext cx="9144000" cy="7402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7"/>
          <p:cNvSpPr txBox="1">
            <a:spLocks noGrp="1"/>
          </p:cNvSpPr>
          <p:nvPr>
            <p:ph type="body" idx="1"/>
          </p:nvPr>
        </p:nvSpPr>
        <p:spPr>
          <a:xfrm>
            <a:off x="57150" y="4696825"/>
            <a:ext cx="8382000" cy="446625"/>
          </a:xfrm>
          <a:prstGeom prst="rect">
            <a:avLst/>
          </a:prstGeom>
          <a:noFill/>
          <a:ln>
            <a:noFill/>
          </a:ln>
        </p:spPr>
        <p:txBody>
          <a:bodyPr spcFirstLastPara="1" wrap="square" lIns="91425" tIns="91425" rIns="91425" bIns="91425" anchor="ctr" anchorCtr="0">
            <a:noAutofit/>
          </a:bodyPr>
          <a:lstStyle>
            <a:lvl1pPr marL="457200" marR="0" lvl="0" indent="-228600" algn="l">
              <a:lnSpc>
                <a:spcPct val="100000"/>
              </a:lnSpc>
              <a:spcBef>
                <a:spcPts val="0"/>
              </a:spcBef>
              <a:spcAft>
                <a:spcPts val="0"/>
              </a:spcAft>
              <a:buClr>
                <a:schemeClr val="lt1"/>
              </a:buClr>
              <a:buSzPts val="1200"/>
              <a:buFont typeface="Montserrat"/>
              <a:buNone/>
              <a:defRPr sz="1200" b="0" i="0" u="none" strike="noStrike" cap="none">
                <a:solidFill>
                  <a:schemeClr val="lt1"/>
                </a:solidFill>
                <a:latin typeface="Montserrat"/>
                <a:ea typeface="Montserrat"/>
                <a:cs typeface="Montserrat"/>
                <a:sym typeface="Montserrat"/>
              </a:defRPr>
            </a:lvl1pPr>
          </a:lstStyle>
          <a:p>
            <a:endParaRPr/>
          </a:p>
        </p:txBody>
      </p:sp>
      <p:sp>
        <p:nvSpPr>
          <p:cNvPr id="90" name="Google Shape;90;p17"/>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91"/>
        <p:cNvGrpSpPr/>
        <p:nvPr/>
      </p:nvGrpSpPr>
      <p:grpSpPr>
        <a:xfrm>
          <a:off x="0" y="0"/>
          <a:ext cx="0" cy="0"/>
          <a:chOff x="0" y="0"/>
          <a:chExt cx="0" cy="0"/>
        </a:xfrm>
      </p:grpSpPr>
      <p:sp>
        <p:nvSpPr>
          <p:cNvPr id="92" name="Google Shape;92;p18"/>
          <p:cNvSpPr txBox="1">
            <a:spLocks noGrp="1"/>
          </p:cNvSpPr>
          <p:nvPr>
            <p:ph type="title" hasCustomPrompt="1"/>
          </p:nvPr>
        </p:nvSpPr>
        <p:spPr>
          <a:xfrm>
            <a:off x="475500" y="1258525"/>
            <a:ext cx="8222100" cy="1963575"/>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12000"/>
              <a:buFont typeface="Arial"/>
              <a:buNone/>
              <a:defRPr sz="12000" b="0" i="0" u="none" strike="noStrike" cap="none">
                <a:solidFill>
                  <a:schemeClr val="dk2"/>
                </a:solidFill>
                <a:latin typeface="Open Sans"/>
                <a:ea typeface="Open Sans"/>
                <a:cs typeface="Open Sans"/>
                <a:sym typeface="Open Sans"/>
              </a:defRPr>
            </a:lvl1pPr>
            <a:lvl2pPr marR="0" lvl="1"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9pPr>
          </a:lstStyle>
          <a:p>
            <a:r>
              <a:t>xx%</a:t>
            </a:r>
          </a:p>
        </p:txBody>
      </p:sp>
      <p:sp>
        <p:nvSpPr>
          <p:cNvPr id="93" name="Google Shape;93;p18"/>
          <p:cNvSpPr txBox="1">
            <a:spLocks noGrp="1"/>
          </p:cNvSpPr>
          <p:nvPr>
            <p:ph type="body" idx="1"/>
          </p:nvPr>
        </p:nvSpPr>
        <p:spPr>
          <a:xfrm>
            <a:off x="475500" y="3304625"/>
            <a:ext cx="8222100" cy="1300725"/>
          </a:xfrm>
          <a:prstGeom prst="rect">
            <a:avLst/>
          </a:prstGeom>
          <a:noFill/>
          <a:ln>
            <a:noFill/>
          </a:ln>
        </p:spPr>
        <p:txBody>
          <a:bodyPr spcFirstLastPara="1" wrap="square" lIns="91425" tIns="91425" rIns="91425" bIns="91425" anchor="t" anchorCtr="0">
            <a:noAutofit/>
          </a:bodyPr>
          <a:lstStyle>
            <a:lvl1pPr marL="457200" marR="0" lvl="0" indent="-342900" algn="ctr">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ctr">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94" name="Google Shape;94;p1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theme" Target="../theme/theme2.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1pPr>
            <a:lvl2pPr marL="0" marR="0" lvl="1"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2pPr>
            <a:lvl3pPr marL="0" marR="0" lvl="2"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3pPr>
            <a:lvl4pPr marL="0" marR="0" lvl="3"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4pPr>
            <a:lvl5pPr marL="0" marR="0" lvl="4"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5pPr>
            <a:lvl6pPr marL="0" marR="0" lvl="5"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6pPr>
            <a:lvl7pPr marL="0" marR="0" lvl="6"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7pPr>
            <a:lvl8pPr marL="0" marR="0" lvl="7"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8pPr>
            <a:lvl9pPr marL="0" marR="0" lvl="8"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US"/>
              <a:t>‹#›</a:t>
            </a:fld>
            <a:endParaRPr/>
          </a:p>
        </p:txBody>
      </p:sp>
      <p:sp>
        <p:nvSpPr>
          <p:cNvPr id="7" name="Google Shape;7;p1"/>
          <p:cNvSpPr txBox="1">
            <a:spLocks noGrp="1"/>
          </p:cNvSpPr>
          <p:nvPr>
            <p:ph type="title"/>
          </p:nvPr>
        </p:nvSpPr>
        <p:spPr>
          <a:xfrm>
            <a:off x="457200" y="0"/>
            <a:ext cx="8229600" cy="1063229"/>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8" name="Google Shape;8;p1"/>
          <p:cNvSpPr txBox="1">
            <a:spLocks noGrp="1"/>
          </p:cNvSpPr>
          <p:nvPr>
            <p:ph type="body" idx="1"/>
          </p:nvPr>
        </p:nvSpPr>
        <p:spPr>
          <a:xfrm>
            <a:off x="457200" y="1200150"/>
            <a:ext cx="8229600" cy="394335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
        <p:nvSpPr>
          <p:cNvPr id="3" name="TextBox 2">
            <a:extLst>
              <a:ext uri="{FF2B5EF4-FFF2-40B4-BE49-F238E27FC236}">
                <a16:creationId xmlns:a16="http://schemas.microsoft.com/office/drawing/2014/main" id="{E1FF4C36-A3EF-DA36-10C9-FFF4C5D21658}"/>
              </a:ext>
            </a:extLst>
          </p:cNvPr>
          <p:cNvSpPr txBox="1"/>
          <p:nvPr userDrawn="1">
            <p:extLst>
              <p:ext uri="{1162E1C5-73C7-4A58-AE30-91384D911F3F}">
                <p184:classification xmlns:p184="http://schemas.microsoft.com/office/powerpoint/2018/4/main" val="ftr"/>
              </p:ext>
            </p:extLst>
          </p:nvPr>
        </p:nvSpPr>
        <p:spPr>
          <a:xfrm>
            <a:off x="8267700" y="4958080"/>
            <a:ext cx="833438"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Cisco Confidential</a:t>
            </a: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rgbClr val="002D3C"/>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37" name="Google Shape;37;p8"/>
          <p:cNvSpPr txBox="1">
            <a:spLocks noGrp="1"/>
          </p:cNvSpPr>
          <p:nvPr>
            <p:ph type="body" idx="1"/>
          </p:nvPr>
        </p:nvSpPr>
        <p:spPr>
          <a:xfrm>
            <a:off x="471900" y="1919075"/>
            <a:ext cx="8222100" cy="2710125"/>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l" rtl="0">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38" name="Google Shape;38;p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3" name="TextBox 2">
            <a:extLst>
              <a:ext uri="{FF2B5EF4-FFF2-40B4-BE49-F238E27FC236}">
                <a16:creationId xmlns:a16="http://schemas.microsoft.com/office/drawing/2014/main" id="{91B0B490-09AD-8BBB-7003-6B611F313D8B}"/>
              </a:ext>
            </a:extLst>
          </p:cNvPr>
          <p:cNvSpPr txBox="1"/>
          <p:nvPr userDrawn="1">
            <p:extLst>
              <p:ext uri="{1162E1C5-73C7-4A58-AE30-91384D911F3F}">
                <p184:classification xmlns:p184="http://schemas.microsoft.com/office/powerpoint/2018/4/main" val="ftr"/>
              </p:ext>
            </p:extLst>
          </p:nvPr>
        </p:nvSpPr>
        <p:spPr>
          <a:xfrm>
            <a:off x="8267700" y="4958080"/>
            <a:ext cx="833438"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Cisco Confidential</a:t>
            </a: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hyperlink" Target="https://mailarchive.ietf.org/arch/browse/fantel/" TargetMode="External"/><Relationship Id="rId2" Type="http://schemas.openxmlformats.org/officeDocument/2006/relationships/hyperlink" Target="mailto:fantel@ietf.org" TargetMode="External"/><Relationship Id="rId1" Type="http://schemas.openxmlformats.org/officeDocument/2006/relationships/slideLayout" Target="../slideLayouts/slideLayout8.xml"/><Relationship Id="rId6" Type="http://schemas.openxmlformats.org/officeDocument/2006/relationships/hyperlink" Target="https://github.com/Yingzhen-ietf/FANN-charter/" TargetMode="External"/><Relationship Id="rId5" Type="http://schemas.openxmlformats.org/officeDocument/2006/relationships/hyperlink" Target="https://github.com/ietf-wg-rtgwg/draft-ietf-rtgwg-net-notif-ps" TargetMode="External"/><Relationship Id="rId4" Type="http://schemas.openxmlformats.org/officeDocument/2006/relationships/hyperlink" Target="https://datatracker.ietf.org/doc/draft-ietf-rtgwg-net-notif-p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Yingzhen-ietf/FANN-charter/issues/11" TargetMode="External"/><Relationship Id="rId2" Type="http://schemas.openxmlformats.org/officeDocument/2006/relationships/hyperlink" Target="https://github.com/Yingzhen-ietf/FANN-charter/issues/8" TargetMode="Externa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Yingzhen-ietf/FANN-charter/issues/16" TargetMode="Externa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Yingzhen-ietf/FANN-charter/issues/20" TargetMode="External"/><Relationship Id="rId2" Type="http://schemas.openxmlformats.org/officeDocument/2006/relationships/hyperlink" Target="https://github.com/Yingzhen-ietf/FANN-charter/issues/18" TargetMode="Externa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Yingzhen-ietf/FANN-charter/issues/28" TargetMode="External"/><Relationship Id="rId2" Type="http://schemas.openxmlformats.org/officeDocument/2006/relationships/hyperlink" Target="https://github.com/Yingzhen-ietf/FANN-charter/issues/24" TargetMode="Externa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Yingzhen-ietf/FANN-charter/issues/30" TargetMode="Externa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Yingzhen-ietf/FANN-charter/issues/30" TargetMode="Externa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Yingzhen-ietf/FANN-charter/issues/30" TargetMode="Externa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754464" y="2104950"/>
            <a:ext cx="7635000" cy="9336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4200"/>
              <a:buFont typeface="Open Sans"/>
              <a:buNone/>
            </a:pPr>
            <a:r>
              <a:rPr lang="en-US" sz="3600" dirty="0">
                <a:latin typeface="Inter"/>
                <a:ea typeface="Inter"/>
                <a:cs typeface="Inter"/>
                <a:sym typeface="Inter"/>
              </a:rPr>
              <a:t>IETF 1</a:t>
            </a:r>
            <a:r>
              <a:rPr lang="en-US" sz="3600" dirty="0"/>
              <a:t>25</a:t>
            </a:r>
            <a:endParaRPr sz="3600" dirty="0">
              <a:latin typeface="Inter"/>
              <a:ea typeface="Inter"/>
              <a:cs typeface="Inter"/>
              <a:sym typeface="Inter"/>
            </a:endParaRPr>
          </a:p>
        </p:txBody>
      </p:sp>
      <p:sp>
        <p:nvSpPr>
          <p:cNvPr id="100" name="Google Shape;100;p19"/>
          <p:cNvSpPr txBox="1"/>
          <p:nvPr/>
        </p:nvSpPr>
        <p:spPr>
          <a:xfrm>
            <a:off x="754475" y="1465800"/>
            <a:ext cx="4986900" cy="522900"/>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FFFFFF"/>
              </a:buClr>
              <a:buSzPts val="2400"/>
              <a:buFont typeface="Montserrat"/>
              <a:buNone/>
            </a:pPr>
            <a:r>
              <a:rPr lang="en-US" sz="2100" dirty="0">
                <a:solidFill>
                  <a:srgbClr val="FFFFFF"/>
                </a:solidFill>
                <a:latin typeface="Inter"/>
                <a:ea typeface="Inter"/>
                <a:cs typeface="Inter"/>
                <a:sym typeface="Inter"/>
              </a:rPr>
              <a:t>16 March 2026</a:t>
            </a:r>
            <a:endParaRPr sz="1100" dirty="0">
              <a:latin typeface="Inter"/>
              <a:ea typeface="Inter"/>
              <a:cs typeface="Inter"/>
              <a:sym typeface="Inter"/>
            </a:endParaRPr>
          </a:p>
        </p:txBody>
      </p:sp>
      <p:sp>
        <p:nvSpPr>
          <p:cNvPr id="101" name="Google Shape;101;p19"/>
          <p:cNvSpPr txBox="1"/>
          <p:nvPr/>
        </p:nvSpPr>
        <p:spPr>
          <a:xfrm>
            <a:off x="294650" y="4322350"/>
            <a:ext cx="3783600" cy="44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a:latin typeface="Inter"/>
                <a:ea typeface="Inter"/>
                <a:cs typeface="Inter"/>
                <a:sym typeface="Inter"/>
              </a:rPr>
              <a:t>Internet Engineering Task Force</a:t>
            </a:r>
            <a:endParaRPr sz="1200">
              <a:latin typeface="Inter"/>
              <a:ea typeface="Inter"/>
              <a:cs typeface="Inter"/>
              <a:sym typeface="Inter"/>
            </a:endParaRPr>
          </a:p>
          <a:p>
            <a:pPr marL="0" lvl="0" indent="0" algn="l" rtl="0">
              <a:spcBef>
                <a:spcPts val="0"/>
              </a:spcBef>
              <a:spcAft>
                <a:spcPts val="0"/>
              </a:spcAft>
              <a:buNone/>
            </a:pPr>
            <a:r>
              <a:rPr lang="en-US" sz="1200">
                <a:latin typeface="Inter"/>
                <a:ea typeface="Inter"/>
                <a:cs typeface="Inter"/>
                <a:sym typeface="Inter"/>
              </a:rPr>
              <a:t>© 2026 IETF Trust </a:t>
            </a:r>
            <a:endParaRPr sz="1200">
              <a:latin typeface="Inter"/>
              <a:ea typeface="Inter"/>
              <a:cs typeface="Inter"/>
              <a:sym typeface="Inter"/>
            </a:endParaRPr>
          </a:p>
          <a:p>
            <a:pPr marL="0" lvl="0" indent="0" algn="l" rtl="0">
              <a:spcBef>
                <a:spcPts val="0"/>
              </a:spcBef>
              <a:spcAft>
                <a:spcPts val="0"/>
              </a:spcAft>
              <a:buNone/>
            </a:pPr>
            <a:r>
              <a:rPr lang="en-US" sz="1200">
                <a:latin typeface="Inter"/>
                <a:ea typeface="Inter"/>
                <a:cs typeface="Inter"/>
                <a:sym typeface="Inter"/>
              </a:rPr>
              <a:t>Production by Meetecho</a:t>
            </a:r>
            <a:endParaRPr sz="1200">
              <a:latin typeface="Inter"/>
              <a:ea typeface="Inter"/>
              <a:cs typeface="Inter"/>
              <a:sym typeface="Inter"/>
            </a:endParaRPr>
          </a:p>
        </p:txBody>
      </p:sp>
      <p:sp>
        <p:nvSpPr>
          <p:cNvPr id="102" name="Google Shape;102;p19"/>
          <p:cNvSpPr txBox="1"/>
          <p:nvPr/>
        </p:nvSpPr>
        <p:spPr>
          <a:xfrm>
            <a:off x="754475" y="3154800"/>
            <a:ext cx="5724900" cy="6678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300"/>
              </a:spcBef>
              <a:spcAft>
                <a:spcPts val="0"/>
              </a:spcAft>
              <a:buNone/>
            </a:pPr>
            <a:r>
              <a:rPr lang="en-US" sz="2400" dirty="0">
                <a:solidFill>
                  <a:srgbClr val="FFF2CC"/>
                </a:solidFill>
                <a:latin typeface="Inter"/>
                <a:ea typeface="Inter"/>
                <a:cs typeface="Inter"/>
                <a:sym typeface="Inter"/>
              </a:rPr>
              <a:t>FANN (FANTEL) side meeting</a:t>
            </a:r>
            <a:endParaRPr sz="2400" dirty="0">
              <a:solidFill>
                <a:srgbClr val="FFF2CC"/>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0"/>
          <p:cNvSpPr txBox="1"/>
          <p:nvPr/>
        </p:nvSpPr>
        <p:spPr>
          <a:xfrm>
            <a:off x="311700" y="740175"/>
            <a:ext cx="8561400" cy="4100700"/>
          </a:xfrm>
          <a:prstGeom prst="rect">
            <a:avLst/>
          </a:prstGeom>
          <a:noFill/>
          <a:ln>
            <a:noFill/>
          </a:ln>
        </p:spPr>
        <p:txBody>
          <a:bodyPr spcFirstLastPara="1" wrap="square" lIns="91400" tIns="45700" rIns="91400" bIns="45700" anchor="t" anchorCtr="0">
            <a:noAutofit/>
          </a:bodyPr>
          <a:lstStyle/>
          <a:p>
            <a:pPr marL="0" lvl="0" indent="0" algn="l" rtl="0">
              <a:lnSpc>
                <a:spcPct val="115000"/>
              </a:lnSpc>
              <a:spcBef>
                <a:spcPts val="0"/>
              </a:spcBef>
              <a:spcAft>
                <a:spcPts val="1000"/>
              </a:spcAft>
              <a:buNone/>
            </a:pPr>
            <a:r>
              <a:rPr lang="en-US" sz="1200">
                <a:solidFill>
                  <a:srgbClr val="000000"/>
                </a:solidFill>
                <a:latin typeface="Inter"/>
                <a:ea typeface="Inter"/>
                <a:cs typeface="Inter"/>
                <a:sym typeface="Inter"/>
              </a:rPr>
              <a:t>By participating in the IETF you agree to follow IETF processes and policies. This Note Well is a reminder </a:t>
            </a:r>
            <a:r>
              <a:rPr lang="en-US" sz="1200">
                <a:latin typeface="Inter"/>
                <a:ea typeface="Inter"/>
                <a:cs typeface="Inter"/>
                <a:sym typeface="Inter"/>
              </a:rPr>
              <a:t> </a:t>
            </a:r>
            <a:r>
              <a:rPr lang="en-US" sz="1200">
                <a:solidFill>
                  <a:srgbClr val="000000"/>
                </a:solidFill>
                <a:latin typeface="Inter"/>
                <a:ea typeface="Inter"/>
                <a:cs typeface="Inter"/>
                <a:sym typeface="Inter"/>
              </a:rPr>
              <a:t>of some of those policies. For a linked version of this text, please visit </a:t>
            </a:r>
            <a:r>
              <a:rPr lang="en-US" sz="1200" b="1">
                <a:solidFill>
                  <a:srgbClr val="000000"/>
                </a:solidFill>
                <a:latin typeface="Inter"/>
                <a:ea typeface="Inter"/>
                <a:cs typeface="Inter"/>
                <a:sym typeface="Inter"/>
              </a:rPr>
              <a:t>www.ietf.org/note-well </a:t>
            </a:r>
            <a:r>
              <a:rPr lang="en-US" sz="1200">
                <a:solidFill>
                  <a:srgbClr val="000000"/>
                </a:solidFill>
                <a:latin typeface="Inter"/>
                <a:ea typeface="Inter"/>
                <a:cs typeface="Inter"/>
                <a:sym typeface="Inter"/>
              </a:rPr>
              <a:t>or use the QR code below</a:t>
            </a:r>
            <a:endParaRPr sz="1200">
              <a:solidFill>
                <a:srgbClr val="434343"/>
              </a:solidFill>
              <a:latin typeface="Inter"/>
              <a:ea typeface="Inter"/>
              <a:cs typeface="Inter"/>
              <a:sym typeface="Inter"/>
            </a:endParaRPr>
          </a:p>
        </p:txBody>
      </p:sp>
      <p:sp>
        <p:nvSpPr>
          <p:cNvPr id="108" name="Google Shape;108;p20"/>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a:latin typeface="Inter"/>
                <a:ea typeface="Inter"/>
                <a:cs typeface="Inter"/>
                <a:sym typeface="Inter"/>
              </a:rPr>
              <a:t>Note Well</a:t>
            </a:r>
            <a:endParaRPr sz="2400" i="0" u="none" strike="noStrike" cap="none">
              <a:solidFill>
                <a:schemeClr val="lt1"/>
              </a:solidFill>
              <a:latin typeface="Inter"/>
              <a:ea typeface="Inter"/>
              <a:cs typeface="Inter"/>
              <a:sym typeface="Inter"/>
            </a:endParaRPr>
          </a:p>
        </p:txBody>
      </p:sp>
      <p:sp>
        <p:nvSpPr>
          <p:cNvPr id="109" name="Google Shape;109;p20"/>
          <p:cNvSpPr txBox="1"/>
          <p:nvPr/>
        </p:nvSpPr>
        <p:spPr>
          <a:xfrm>
            <a:off x="311700" y="1282025"/>
            <a:ext cx="7584300" cy="3346500"/>
          </a:xfrm>
          <a:prstGeom prst="rect">
            <a:avLst/>
          </a:prstGeom>
          <a:noFill/>
          <a:ln>
            <a:noFill/>
          </a:ln>
        </p:spPr>
        <p:txBody>
          <a:bodyPr spcFirstLastPara="1" wrap="square" lIns="91400" tIns="45700" rIns="91400" bIns="45700" anchor="t" anchorCtr="0">
            <a:noAutofit/>
          </a:bodyPr>
          <a:lstStyle/>
          <a:p>
            <a:pPr marL="457200" lvl="0" indent="-304800" algn="l" rtl="0">
              <a:lnSpc>
                <a:spcPct val="115000"/>
              </a:lnSpc>
              <a:spcBef>
                <a:spcPts val="0"/>
              </a:spcBef>
              <a:spcAft>
                <a:spcPts val="0"/>
              </a:spcAft>
              <a:buClr>
                <a:srgbClr val="000000"/>
              </a:buClr>
              <a:buSzPts val="1200"/>
              <a:buFont typeface="Inter"/>
              <a:buChar char="●"/>
            </a:pPr>
            <a:r>
              <a:rPr lang="en-US" sz="1200">
                <a:solidFill>
                  <a:srgbClr val="000000"/>
                </a:solidFill>
                <a:latin typeface="Inter"/>
                <a:ea typeface="Inter"/>
                <a:cs typeface="Inter"/>
                <a:sym typeface="Inter"/>
              </a:rPr>
              <a:t>IETF participants are expected to behave in a professional manner and extend respect and courtesy to their colleagues at all times (see </a:t>
            </a:r>
            <a:r>
              <a:rPr lang="en-US" sz="1200" b="1">
                <a:solidFill>
                  <a:srgbClr val="000000"/>
                </a:solidFill>
                <a:latin typeface="Inter"/>
                <a:ea typeface="Inter"/>
                <a:cs typeface="Inter"/>
                <a:sym typeface="Inter"/>
              </a:rPr>
              <a:t>RFC 7154: IETF Guidelines for Conduct and IETF Anti-Harassment Policy</a:t>
            </a:r>
            <a:r>
              <a:rPr lang="en-US" sz="1200">
                <a:solidFill>
                  <a:srgbClr val="000000"/>
                </a:solidFill>
                <a:latin typeface="Inter"/>
                <a:ea typeface="Inter"/>
                <a:cs typeface="Inter"/>
                <a:sym typeface="Inter"/>
              </a:rPr>
              <a:t>). If you have any concerns about behavior, please contact the </a:t>
            </a:r>
            <a:r>
              <a:rPr lang="en-US" sz="1200" i="1">
                <a:solidFill>
                  <a:srgbClr val="000000"/>
                </a:solidFill>
                <a:latin typeface="Inter"/>
                <a:ea typeface="Inter"/>
                <a:cs typeface="Inter"/>
                <a:sym typeface="Inter"/>
              </a:rPr>
              <a:t>Ombudsteam</a:t>
            </a:r>
            <a:r>
              <a:rPr lang="en-US" sz="1200">
                <a:solidFill>
                  <a:srgbClr val="000000"/>
                </a:solidFill>
                <a:latin typeface="Inter"/>
                <a:ea typeface="Inter"/>
                <a:cs typeface="Inter"/>
                <a:sym typeface="Inter"/>
              </a:rPr>
              <a:t> who have a duty of confidentiality and extensive powers to act, as set out in </a:t>
            </a:r>
            <a:r>
              <a:rPr lang="en-US" sz="1200" b="1">
                <a:solidFill>
                  <a:srgbClr val="000000"/>
                </a:solidFill>
                <a:latin typeface="Inter"/>
                <a:ea typeface="Inter"/>
                <a:cs typeface="Inter"/>
                <a:sym typeface="Inter"/>
              </a:rPr>
              <a:t>RFC 7776: IETF Anti-Harassment Procedures</a:t>
            </a:r>
            <a:r>
              <a:rPr lang="en-US" sz="1200">
                <a:solidFill>
                  <a:srgbClr val="000000"/>
                </a:solidFill>
                <a:latin typeface="Inter"/>
                <a:ea typeface="Inter"/>
                <a:cs typeface="Inter"/>
                <a:sym typeface="Inter"/>
              </a:rPr>
              <a:t>.</a:t>
            </a:r>
            <a:endParaRPr sz="1200">
              <a:solidFill>
                <a:srgbClr val="000000"/>
              </a:solidFill>
              <a:latin typeface="Inter"/>
              <a:ea typeface="Inter"/>
              <a:cs typeface="Inter"/>
              <a:sym typeface="Inter"/>
            </a:endParaRPr>
          </a:p>
          <a:p>
            <a:pPr marL="457200" lvl="0" indent="-304800" algn="l" rtl="0">
              <a:lnSpc>
                <a:spcPct val="115000"/>
              </a:lnSpc>
              <a:spcBef>
                <a:spcPts val="1000"/>
              </a:spcBef>
              <a:spcAft>
                <a:spcPts val="0"/>
              </a:spcAft>
              <a:buClr>
                <a:srgbClr val="000000"/>
              </a:buClr>
              <a:buSzPts val="1200"/>
              <a:buFont typeface="Inter"/>
              <a:buChar char="●"/>
            </a:pPr>
            <a:r>
              <a:rPr lang="en-US" sz="1200">
                <a:solidFill>
                  <a:srgbClr val="000000"/>
                </a:solidFill>
                <a:latin typeface="Inter"/>
                <a:ea typeface="Inter"/>
                <a:cs typeface="Inter"/>
                <a:sym typeface="Inter"/>
              </a:rPr>
              <a:t>If you are aware that any IETF contribution (as defined in </a:t>
            </a:r>
            <a:r>
              <a:rPr lang="en-US" sz="1200" b="1">
                <a:solidFill>
                  <a:srgbClr val="000000"/>
                </a:solidFill>
                <a:latin typeface="Inter"/>
                <a:ea typeface="Inter"/>
                <a:cs typeface="Inter"/>
                <a:sym typeface="Inter"/>
              </a:rPr>
              <a:t>RFC 5378: Rights Contributors Provide to the IETF Trust</a:t>
            </a:r>
            <a:r>
              <a:rPr lang="en-US" sz="1200">
                <a:solidFill>
                  <a:srgbClr val="000000"/>
                </a:solidFill>
                <a:latin typeface="Inter"/>
                <a:ea typeface="Inter"/>
                <a:cs typeface="Inter"/>
                <a:sym typeface="Inter"/>
              </a:rPr>
              <a:t>) is covered by patents or patent applications that are owned or controlled by you, your employer or your sponsor, you must disclose that fact, </a:t>
            </a:r>
            <a:br>
              <a:rPr lang="en-US" sz="1200">
                <a:solidFill>
                  <a:srgbClr val="000000"/>
                </a:solidFill>
                <a:latin typeface="Inter"/>
                <a:ea typeface="Inter"/>
                <a:cs typeface="Inter"/>
                <a:sym typeface="Inter"/>
              </a:rPr>
            </a:br>
            <a:r>
              <a:rPr lang="en-US" sz="1200">
                <a:solidFill>
                  <a:srgbClr val="000000"/>
                </a:solidFill>
                <a:latin typeface="Inter"/>
                <a:ea typeface="Inter"/>
                <a:cs typeface="Inter"/>
                <a:sym typeface="Inter"/>
              </a:rPr>
              <a:t>or not participate in the discussion </a:t>
            </a:r>
            <a:r>
              <a:rPr lang="en-US" sz="1200">
                <a:latin typeface="Inter"/>
                <a:ea typeface="Inter"/>
                <a:cs typeface="Inter"/>
                <a:sym typeface="Inter"/>
              </a:rPr>
              <a:t> </a:t>
            </a:r>
            <a:r>
              <a:rPr lang="en-US" sz="1200">
                <a:solidFill>
                  <a:srgbClr val="000000"/>
                </a:solidFill>
                <a:latin typeface="Inter"/>
                <a:ea typeface="Inter"/>
                <a:cs typeface="Inter"/>
                <a:sym typeface="Inter"/>
              </a:rPr>
              <a:t>(see </a:t>
            </a:r>
            <a:r>
              <a:rPr lang="en-US" sz="1200" b="1">
                <a:solidFill>
                  <a:srgbClr val="000000"/>
                </a:solidFill>
                <a:latin typeface="Inter"/>
                <a:ea typeface="Inter"/>
                <a:cs typeface="Inter"/>
                <a:sym typeface="Inter"/>
              </a:rPr>
              <a:t>RFC 8179: Intellectual Property Rights in IETF Technology</a:t>
            </a:r>
            <a:r>
              <a:rPr lang="en-US" sz="1200">
                <a:solidFill>
                  <a:srgbClr val="000000"/>
                </a:solidFill>
                <a:latin typeface="Inter"/>
                <a:ea typeface="Inter"/>
                <a:cs typeface="Inter"/>
                <a:sym typeface="Inter"/>
              </a:rPr>
              <a:t>).</a:t>
            </a:r>
            <a:endParaRPr sz="1200">
              <a:solidFill>
                <a:srgbClr val="000000"/>
              </a:solidFill>
              <a:latin typeface="Inter"/>
              <a:ea typeface="Inter"/>
              <a:cs typeface="Inter"/>
              <a:sym typeface="Inter"/>
            </a:endParaRPr>
          </a:p>
          <a:p>
            <a:pPr marL="457200" lvl="0" indent="-304800" algn="l" rtl="0">
              <a:lnSpc>
                <a:spcPct val="115000"/>
              </a:lnSpc>
              <a:spcBef>
                <a:spcPts val="1000"/>
              </a:spcBef>
              <a:spcAft>
                <a:spcPts val="0"/>
              </a:spcAft>
              <a:buClr>
                <a:srgbClr val="000000"/>
              </a:buClr>
              <a:buSzPts val="1200"/>
              <a:buFont typeface="Inter"/>
              <a:buChar char="●"/>
            </a:pPr>
            <a:r>
              <a:rPr lang="en-US" sz="1200">
                <a:solidFill>
                  <a:srgbClr val="000000"/>
                </a:solidFill>
                <a:latin typeface="Inter"/>
                <a:ea typeface="Inter"/>
                <a:cs typeface="Inter"/>
                <a:sym typeface="Inter"/>
              </a:rPr>
              <a:t>For detailed process information consult </a:t>
            </a:r>
            <a:r>
              <a:rPr lang="en-US" sz="1200" b="1">
                <a:solidFill>
                  <a:srgbClr val="000000"/>
                </a:solidFill>
                <a:latin typeface="Inter"/>
                <a:ea typeface="Inter"/>
                <a:cs typeface="Inter"/>
                <a:sym typeface="Inter"/>
              </a:rPr>
              <a:t>RFC 2026: Internet Standards Process</a:t>
            </a:r>
            <a:r>
              <a:rPr lang="en-US" sz="1200">
                <a:solidFill>
                  <a:srgbClr val="000000"/>
                </a:solidFill>
                <a:latin typeface="Inter"/>
                <a:ea typeface="Inter"/>
                <a:cs typeface="Inter"/>
                <a:sym typeface="Inter"/>
              </a:rPr>
              <a:t> and </a:t>
            </a:r>
            <a:br>
              <a:rPr lang="en-US" sz="1200">
                <a:solidFill>
                  <a:srgbClr val="000000"/>
                </a:solidFill>
                <a:latin typeface="Inter"/>
                <a:ea typeface="Inter"/>
                <a:cs typeface="Inter"/>
                <a:sym typeface="Inter"/>
              </a:rPr>
            </a:br>
            <a:r>
              <a:rPr lang="en-US" sz="1200" i="1">
                <a:solidFill>
                  <a:srgbClr val="000000"/>
                </a:solidFill>
                <a:latin typeface="Inter"/>
                <a:ea typeface="Inter"/>
                <a:cs typeface="Inter"/>
                <a:sym typeface="Inter"/>
              </a:rPr>
              <a:t>RFC 2418: </a:t>
            </a:r>
            <a:r>
              <a:rPr lang="en-US" sz="1200" b="1">
                <a:solidFill>
                  <a:srgbClr val="000000"/>
                </a:solidFill>
                <a:latin typeface="Inter"/>
                <a:ea typeface="Inter"/>
                <a:cs typeface="Inter"/>
                <a:sym typeface="Inter"/>
              </a:rPr>
              <a:t>IETF Working Group Guidelines and Procedures</a:t>
            </a:r>
            <a:r>
              <a:rPr lang="en-US" sz="1200">
                <a:solidFill>
                  <a:srgbClr val="000000"/>
                </a:solidFill>
                <a:latin typeface="Inter"/>
                <a:ea typeface="Inter"/>
                <a:cs typeface="Inter"/>
                <a:sym typeface="Inter"/>
              </a:rPr>
              <a:t> and updates to those.</a:t>
            </a:r>
            <a:endParaRPr sz="1200">
              <a:solidFill>
                <a:srgbClr val="000000"/>
              </a:solidFill>
              <a:latin typeface="Inter"/>
              <a:ea typeface="Inter"/>
              <a:cs typeface="Inter"/>
              <a:sym typeface="Inter"/>
            </a:endParaRPr>
          </a:p>
          <a:p>
            <a:pPr marL="457200" lvl="0" indent="-304800" algn="l" rtl="0">
              <a:lnSpc>
                <a:spcPct val="115000"/>
              </a:lnSpc>
              <a:spcBef>
                <a:spcPts val="1000"/>
              </a:spcBef>
              <a:spcAft>
                <a:spcPts val="0"/>
              </a:spcAft>
              <a:buClr>
                <a:srgbClr val="000000"/>
              </a:buClr>
              <a:buSzPts val="1200"/>
              <a:buFont typeface="Inter"/>
              <a:buChar char="●"/>
            </a:pPr>
            <a:r>
              <a:rPr lang="en-US" sz="1200">
                <a:solidFill>
                  <a:srgbClr val="000000"/>
                </a:solidFill>
                <a:latin typeface="Inter"/>
                <a:ea typeface="Inter"/>
                <a:cs typeface="Inter"/>
                <a:sym typeface="Inter"/>
              </a:rPr>
              <a:t>The IETF routinely makes public written, audio, video, and photographic records </a:t>
            </a:r>
            <a:br>
              <a:rPr lang="en-US" sz="1200">
                <a:solidFill>
                  <a:srgbClr val="000000"/>
                </a:solidFill>
                <a:latin typeface="Inter"/>
                <a:ea typeface="Inter"/>
                <a:cs typeface="Inter"/>
                <a:sym typeface="Inter"/>
              </a:rPr>
            </a:br>
            <a:r>
              <a:rPr lang="en-US" sz="1200">
                <a:solidFill>
                  <a:srgbClr val="000000"/>
                </a:solidFill>
                <a:latin typeface="Inter"/>
                <a:ea typeface="Inter"/>
                <a:cs typeface="Inter"/>
                <a:sym typeface="Inter"/>
              </a:rPr>
              <a:t>of IETF activities, including your personal information as set out in the </a:t>
            </a:r>
            <a:r>
              <a:rPr lang="en-US" sz="1200" b="1">
                <a:solidFill>
                  <a:srgbClr val="000000"/>
                </a:solidFill>
                <a:latin typeface="Inter"/>
                <a:ea typeface="Inter"/>
                <a:cs typeface="Inter"/>
                <a:sym typeface="Inter"/>
              </a:rPr>
              <a:t>IETF Privacy Statement</a:t>
            </a:r>
            <a:r>
              <a:rPr lang="en-US" sz="1200">
                <a:solidFill>
                  <a:srgbClr val="000000"/>
                </a:solidFill>
                <a:latin typeface="Inter"/>
                <a:ea typeface="Inter"/>
                <a:cs typeface="Inter"/>
                <a:sym typeface="Inter"/>
              </a:rPr>
              <a:t>. </a:t>
            </a:r>
            <a:endParaRPr sz="1200">
              <a:solidFill>
                <a:srgbClr val="000000"/>
              </a:solidFill>
              <a:latin typeface="Inter"/>
              <a:ea typeface="Inter"/>
              <a:cs typeface="Inter"/>
              <a:sym typeface="Inter"/>
            </a:endParaRPr>
          </a:p>
          <a:p>
            <a:pPr marL="0" lvl="0" indent="0" algn="l" rtl="0">
              <a:lnSpc>
                <a:spcPct val="115000"/>
              </a:lnSpc>
              <a:spcBef>
                <a:spcPts val="1000"/>
              </a:spcBef>
              <a:spcAft>
                <a:spcPts val="1000"/>
              </a:spcAft>
              <a:buNone/>
            </a:pPr>
            <a:r>
              <a:rPr lang="en-US" sz="1200">
                <a:solidFill>
                  <a:srgbClr val="000000"/>
                </a:solidFill>
                <a:latin typeface="Inter"/>
                <a:ea typeface="Inter"/>
                <a:cs typeface="Inter"/>
                <a:sym typeface="Inter"/>
              </a:rPr>
              <a:t>For advice, please talk to Working Group chairs or Area Directors.</a:t>
            </a:r>
            <a:endParaRPr sz="1200">
              <a:solidFill>
                <a:srgbClr val="434343"/>
              </a:solidFill>
              <a:latin typeface="Inter"/>
              <a:ea typeface="Inter"/>
              <a:cs typeface="Inter"/>
              <a:sym typeface="Inter"/>
            </a:endParaRPr>
          </a:p>
        </p:txBody>
      </p:sp>
      <p:pic>
        <p:nvPicPr>
          <p:cNvPr id="110" name="Google Shape;110;p20"/>
          <p:cNvPicPr preferRelativeResize="0"/>
          <p:nvPr/>
        </p:nvPicPr>
        <p:blipFill>
          <a:blip r:embed="rId3">
            <a:alphaModFix/>
          </a:blip>
          <a:stretch>
            <a:fillRect/>
          </a:stretch>
        </p:blipFill>
        <p:spPr>
          <a:xfrm>
            <a:off x="7489875" y="3038675"/>
            <a:ext cx="1383300" cy="1383300"/>
          </a:xfrm>
          <a:prstGeom prst="rect">
            <a:avLst/>
          </a:prstGeom>
          <a:noFill/>
          <a:ln w="9525" cap="flat" cmpd="sng">
            <a:solidFill>
              <a:srgbClr val="000000"/>
            </a:solidFill>
            <a:prstDash val="solid"/>
            <a:round/>
            <a:headEnd type="none" w="sm" len="sm"/>
            <a:tailEnd type="none" w="sm" len="sm"/>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98CFE40-1876-9D19-C6B0-60E6AF209C91}"/>
              </a:ext>
            </a:extLst>
          </p:cNvPr>
          <p:cNvSpPr>
            <a:spLocks noGrp="1"/>
          </p:cNvSpPr>
          <p:nvPr>
            <p:ph type="title"/>
          </p:nvPr>
        </p:nvSpPr>
        <p:spPr/>
        <p:txBody>
          <a:bodyPr/>
          <a:lstStyle/>
          <a:p>
            <a:r>
              <a:rPr lang="en-US" dirty="0"/>
              <a:t>Agenda</a:t>
            </a:r>
          </a:p>
        </p:txBody>
      </p:sp>
      <p:sp>
        <p:nvSpPr>
          <p:cNvPr id="6" name="Text Placeholder 5">
            <a:extLst>
              <a:ext uri="{FF2B5EF4-FFF2-40B4-BE49-F238E27FC236}">
                <a16:creationId xmlns:a16="http://schemas.microsoft.com/office/drawing/2014/main" id="{377D0E8C-F25B-8ACB-C69E-D599D4465503}"/>
              </a:ext>
            </a:extLst>
          </p:cNvPr>
          <p:cNvSpPr>
            <a:spLocks noGrp="1"/>
          </p:cNvSpPr>
          <p:nvPr>
            <p:ph type="body" idx="1"/>
          </p:nvPr>
        </p:nvSpPr>
        <p:spPr/>
        <p:txBody>
          <a:bodyPr/>
          <a:lstStyle/>
          <a:p>
            <a:r>
              <a:rPr lang="en-US" dirty="0"/>
              <a:t>Proposed name and materials</a:t>
            </a:r>
          </a:p>
          <a:p>
            <a:endParaRPr lang="en-US" dirty="0"/>
          </a:p>
          <a:p>
            <a:r>
              <a:rPr lang="en-US" dirty="0"/>
              <a:t>FANN charter text discussion</a:t>
            </a:r>
          </a:p>
          <a:p>
            <a:pPr lvl="1">
              <a:spcBef>
                <a:spcPts val="600"/>
              </a:spcBef>
            </a:pPr>
            <a:r>
              <a:rPr lang="en-US" dirty="0"/>
              <a:t>Base text</a:t>
            </a:r>
          </a:p>
          <a:p>
            <a:pPr lvl="1">
              <a:spcBef>
                <a:spcPts val="600"/>
              </a:spcBef>
            </a:pPr>
            <a:r>
              <a:rPr lang="en-US" dirty="0"/>
              <a:t>Open issues</a:t>
            </a:r>
          </a:p>
          <a:p>
            <a:endParaRPr lang="en-US" dirty="0"/>
          </a:p>
          <a:p>
            <a:r>
              <a:rPr lang="en-US" dirty="0"/>
              <a:t>Next Steps</a:t>
            </a:r>
          </a:p>
        </p:txBody>
      </p:sp>
      <p:sp>
        <p:nvSpPr>
          <p:cNvPr id="4" name="Slide Number Placeholder 3">
            <a:extLst>
              <a:ext uri="{FF2B5EF4-FFF2-40B4-BE49-F238E27FC236}">
                <a16:creationId xmlns:a16="http://schemas.microsoft.com/office/drawing/2014/main" id="{DF34408E-C71A-DD19-9750-68108027F6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1209849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ACD64-C1B6-F220-74E0-DF1965241F0C}"/>
              </a:ext>
            </a:extLst>
          </p:cNvPr>
          <p:cNvSpPr>
            <a:spLocks noGrp="1"/>
          </p:cNvSpPr>
          <p:nvPr>
            <p:ph type="title"/>
          </p:nvPr>
        </p:nvSpPr>
        <p:spPr/>
        <p:txBody>
          <a:bodyPr/>
          <a:lstStyle/>
          <a:p>
            <a:r>
              <a:rPr lang="en-US" dirty="0"/>
              <a:t>Proposed name and materials</a:t>
            </a:r>
          </a:p>
        </p:txBody>
      </p:sp>
      <p:sp>
        <p:nvSpPr>
          <p:cNvPr id="3" name="Text Placeholder 2">
            <a:extLst>
              <a:ext uri="{FF2B5EF4-FFF2-40B4-BE49-F238E27FC236}">
                <a16:creationId xmlns:a16="http://schemas.microsoft.com/office/drawing/2014/main" id="{D1C7EF7B-F659-5CD5-C9DB-F5440CF3E54C}"/>
              </a:ext>
            </a:extLst>
          </p:cNvPr>
          <p:cNvSpPr>
            <a:spLocks noGrp="1"/>
          </p:cNvSpPr>
          <p:nvPr>
            <p:ph type="body" idx="1"/>
          </p:nvPr>
        </p:nvSpPr>
        <p:spPr/>
        <p:txBody>
          <a:bodyPr/>
          <a:lstStyle/>
          <a:p>
            <a:r>
              <a:rPr lang="en-US" dirty="0" err="1"/>
              <a:t>FAst</a:t>
            </a:r>
            <a:r>
              <a:rPr lang="en-US" dirty="0"/>
              <a:t> Network Notifications (FANN)</a:t>
            </a:r>
          </a:p>
          <a:p>
            <a:r>
              <a:rPr lang="en-US" dirty="0"/>
              <a:t>Mailing list:</a:t>
            </a:r>
          </a:p>
          <a:p>
            <a:pPr lvl="1">
              <a:spcBef>
                <a:spcPts val="0"/>
              </a:spcBef>
            </a:pPr>
            <a:r>
              <a:rPr lang="en-US" dirty="0">
                <a:hlinkClick r:id="rId2"/>
              </a:rPr>
              <a:t>fantel@ietf.org</a:t>
            </a:r>
            <a:endParaRPr lang="en-US" dirty="0"/>
          </a:p>
          <a:p>
            <a:pPr lvl="1">
              <a:spcBef>
                <a:spcPts val="0"/>
              </a:spcBef>
            </a:pPr>
            <a:r>
              <a:rPr lang="en-US" dirty="0">
                <a:hlinkClick r:id="rId3"/>
              </a:rPr>
              <a:t>https://mailarchive.ietf.org/arch/browse/fantel/</a:t>
            </a:r>
            <a:endParaRPr lang="en-US" dirty="0"/>
          </a:p>
          <a:p>
            <a:r>
              <a:rPr lang="en-US" dirty="0"/>
              <a:t>Fast Network Notifications Problem Statement (PS): </a:t>
            </a:r>
            <a:r>
              <a:rPr lang="en-US" dirty="0">
                <a:hlinkClick r:id="rId4"/>
              </a:rPr>
              <a:t>https://datatracker.ietf.org/doc/draft-ietf-rtgwg-net-notif-ps/</a:t>
            </a:r>
            <a:r>
              <a:rPr lang="en-US" dirty="0"/>
              <a:t> </a:t>
            </a:r>
          </a:p>
          <a:p>
            <a:r>
              <a:rPr lang="en-US" dirty="0"/>
              <a:t>GitHub:</a:t>
            </a:r>
          </a:p>
          <a:p>
            <a:pPr lvl="1">
              <a:spcBef>
                <a:spcPts val="0"/>
              </a:spcBef>
            </a:pPr>
            <a:r>
              <a:rPr lang="en-US" dirty="0"/>
              <a:t>PS I-D: </a:t>
            </a:r>
            <a:r>
              <a:rPr lang="en-US" dirty="0">
                <a:hlinkClick r:id="rId5"/>
              </a:rPr>
              <a:t>https://github.com/ietf-wg-rtgwg/draft-ietf-rtgwg-net-notif-ps</a:t>
            </a:r>
            <a:r>
              <a:rPr lang="en-US" dirty="0"/>
              <a:t> </a:t>
            </a:r>
          </a:p>
          <a:p>
            <a:pPr lvl="1">
              <a:spcBef>
                <a:spcPts val="0"/>
              </a:spcBef>
            </a:pPr>
            <a:r>
              <a:rPr lang="en-US" dirty="0"/>
              <a:t>FANN proposed charter: </a:t>
            </a:r>
            <a:r>
              <a:rPr lang="en-US" dirty="0">
                <a:hlinkClick r:id="rId6"/>
              </a:rPr>
              <a:t>https://github.com/Yingzhen-ietf/FANN-charter/</a:t>
            </a:r>
            <a:r>
              <a:rPr lang="en-US" dirty="0"/>
              <a:t> </a:t>
            </a:r>
          </a:p>
        </p:txBody>
      </p:sp>
      <p:sp>
        <p:nvSpPr>
          <p:cNvPr id="4" name="Slide Number Placeholder 3">
            <a:extLst>
              <a:ext uri="{FF2B5EF4-FFF2-40B4-BE49-F238E27FC236}">
                <a16:creationId xmlns:a16="http://schemas.microsoft.com/office/drawing/2014/main" id="{F8E1DC65-6055-4718-03DB-0D28D76E2690}"/>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4070829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3EF20-5363-B194-3246-004B25321B76}"/>
              </a:ext>
            </a:extLst>
          </p:cNvPr>
          <p:cNvSpPr>
            <a:spLocks noGrp="1"/>
          </p:cNvSpPr>
          <p:nvPr>
            <p:ph type="title"/>
          </p:nvPr>
        </p:nvSpPr>
        <p:spPr/>
        <p:txBody>
          <a:bodyPr/>
          <a:lstStyle/>
          <a:p>
            <a:r>
              <a:rPr lang="en-US" dirty="0"/>
              <a:t>FANN charter text discussion</a:t>
            </a:r>
            <a:br>
              <a:rPr lang="en-US" dirty="0"/>
            </a:br>
            <a:r>
              <a:rPr lang="en-US" b="1" dirty="0"/>
              <a:t>Overview</a:t>
            </a:r>
            <a:r>
              <a:rPr lang="en-US" dirty="0"/>
              <a:t> </a:t>
            </a:r>
          </a:p>
        </p:txBody>
      </p:sp>
      <p:sp>
        <p:nvSpPr>
          <p:cNvPr id="3" name="Text Placeholder 2">
            <a:extLst>
              <a:ext uri="{FF2B5EF4-FFF2-40B4-BE49-F238E27FC236}">
                <a16:creationId xmlns:a16="http://schemas.microsoft.com/office/drawing/2014/main" id="{71054049-D78F-EF4D-C715-FB72C06E35E4}"/>
              </a:ext>
            </a:extLst>
          </p:cNvPr>
          <p:cNvSpPr>
            <a:spLocks noGrp="1"/>
          </p:cNvSpPr>
          <p:nvPr>
            <p:ph type="body" idx="1"/>
          </p:nvPr>
        </p:nvSpPr>
        <p:spPr>
          <a:xfrm>
            <a:off x="627500" y="1794600"/>
            <a:ext cx="7845940" cy="3204120"/>
          </a:xfrm>
        </p:spPr>
        <p:txBody>
          <a:bodyPr/>
          <a:lstStyle/>
          <a:p>
            <a:pPr marL="114300" indent="0">
              <a:buNone/>
            </a:pPr>
            <a:r>
              <a:rPr lang="en-US" sz="1100" dirty="0"/>
              <a:t>Modern network applications, ranging from AI/ML training to cloud services, require adaptive networks to ensure reliable and congestion-free data transfer within or across multiple data centers. However, </a:t>
            </a:r>
            <a:r>
              <a:rPr lang="en-US" sz="1100" b="1" dirty="0"/>
              <a:t>existing traffic management mechanisms often face limitations in responsiveness, </a:t>
            </a:r>
            <a:r>
              <a:rPr lang="en-US" sz="1100" dirty="0"/>
              <a:t>coverage, and operational complexity, particularly in high-speed, large-scale, dynamic network environments: these limitations are caused by issues around the mechanisms used to disseminate and correlate network state information.</a:t>
            </a:r>
          </a:p>
          <a:p>
            <a:pPr marL="114300" indent="0">
              <a:buNone/>
            </a:pPr>
            <a:endParaRPr lang="en-US" sz="1100" dirty="0"/>
          </a:p>
          <a:p>
            <a:pPr marL="114300" indent="0">
              <a:buNone/>
            </a:pPr>
            <a:r>
              <a:rPr lang="en-US" sz="1100" b="1" dirty="0"/>
              <a:t>Modern network hardware is capable of detecting congestion</a:t>
            </a:r>
            <a:r>
              <a:rPr lang="en-US" sz="1100" dirty="0"/>
              <a:t>, microbursts and other local statuses </a:t>
            </a:r>
            <a:r>
              <a:rPr lang="en-US" sz="1100" b="1" dirty="0"/>
              <a:t>at fine-grained time scales</a:t>
            </a:r>
            <a:r>
              <a:rPr lang="en-US" sz="1100" dirty="0"/>
              <a:t> (ranging from microseconds to sub-millisecond), which </a:t>
            </a:r>
            <a:r>
              <a:rPr lang="en-US" sz="1100" b="1" dirty="0"/>
              <a:t>outpaces the time needed for current mechanisms</a:t>
            </a:r>
            <a:r>
              <a:rPr lang="en-US" sz="1100" dirty="0"/>
              <a:t> (e.g. control plane based information distribution or management plane based information collection to disseminate such information to relevant network nodes for their actions (e.g., traffic engineering (TE), load balancing, flow control, and protection switching etc.), leading to suboptimal performance, delayed recovery, congestion, and inefficient resource utilization.</a:t>
            </a:r>
          </a:p>
          <a:p>
            <a:pPr marL="114300" indent="0">
              <a:buNone/>
            </a:pPr>
            <a:endParaRPr lang="en-US" sz="1100" dirty="0"/>
          </a:p>
          <a:p>
            <a:pPr marL="114300" indent="0">
              <a:buNone/>
            </a:pPr>
            <a:r>
              <a:rPr lang="en-US" sz="1100" dirty="0"/>
              <a:t>The </a:t>
            </a:r>
            <a:r>
              <a:rPr lang="en-US" sz="1100" dirty="0" err="1"/>
              <a:t>FAst</a:t>
            </a:r>
            <a:r>
              <a:rPr lang="en-US" sz="1100" dirty="0"/>
              <a:t> Network Notification (</a:t>
            </a:r>
            <a:r>
              <a:rPr lang="en-US" sz="1100" b="1" dirty="0"/>
              <a:t>FANN</a:t>
            </a:r>
            <a:r>
              <a:rPr lang="en-US" sz="1100" dirty="0"/>
              <a:t>) Working Group is chartered to </a:t>
            </a:r>
            <a:r>
              <a:rPr lang="en-US" sz="1100" b="1" dirty="0"/>
              <a:t>specify the protocols, mechanisms, and procedures for on-demand, fast notification of fine-grained network status information</a:t>
            </a:r>
            <a:r>
              <a:rPr lang="en-US" sz="1100" dirty="0"/>
              <a:t>, which allow network nodes that may take response actions to learn quickly about network conditions.</a:t>
            </a:r>
          </a:p>
        </p:txBody>
      </p:sp>
      <p:sp>
        <p:nvSpPr>
          <p:cNvPr id="4" name="Slide Number Placeholder 3">
            <a:extLst>
              <a:ext uri="{FF2B5EF4-FFF2-40B4-BE49-F238E27FC236}">
                <a16:creationId xmlns:a16="http://schemas.microsoft.com/office/drawing/2014/main" id="{969A5CA7-FE8B-708A-1278-1D27FE8D385E}"/>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2766910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10166-86B4-0CDE-7583-0E584C03D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58AD64-41A7-2E69-E0DC-099CB69A256D}"/>
              </a:ext>
            </a:extLst>
          </p:cNvPr>
          <p:cNvSpPr>
            <a:spLocks noGrp="1"/>
          </p:cNvSpPr>
          <p:nvPr>
            <p:ph type="title"/>
          </p:nvPr>
        </p:nvSpPr>
        <p:spPr/>
        <p:txBody>
          <a:bodyPr/>
          <a:lstStyle/>
          <a:p>
            <a:r>
              <a:rPr lang="en-US" dirty="0"/>
              <a:t>FANN charter text discussion</a:t>
            </a:r>
            <a:br>
              <a:rPr lang="en-US" dirty="0"/>
            </a:br>
            <a:r>
              <a:rPr lang="en-US" b="1" dirty="0"/>
              <a:t>Scope</a:t>
            </a:r>
            <a:r>
              <a:rPr lang="en-US" dirty="0"/>
              <a:t> </a:t>
            </a:r>
          </a:p>
        </p:txBody>
      </p:sp>
      <p:sp>
        <p:nvSpPr>
          <p:cNvPr id="3" name="Text Placeholder 2">
            <a:extLst>
              <a:ext uri="{FF2B5EF4-FFF2-40B4-BE49-F238E27FC236}">
                <a16:creationId xmlns:a16="http://schemas.microsoft.com/office/drawing/2014/main" id="{9D92361F-AD4A-B5D3-AF6E-51EB89113D49}"/>
              </a:ext>
            </a:extLst>
          </p:cNvPr>
          <p:cNvSpPr>
            <a:spLocks noGrp="1"/>
          </p:cNvSpPr>
          <p:nvPr>
            <p:ph type="body" idx="1"/>
          </p:nvPr>
        </p:nvSpPr>
        <p:spPr>
          <a:xfrm>
            <a:off x="627500" y="1794600"/>
            <a:ext cx="7868800" cy="2710125"/>
          </a:xfrm>
        </p:spPr>
        <p:txBody>
          <a:bodyPr/>
          <a:lstStyle/>
          <a:p>
            <a:pPr marL="114300" indent="0">
              <a:buNone/>
            </a:pPr>
            <a:r>
              <a:rPr lang="en-US" sz="1050" dirty="0"/>
              <a:t>The network condition data that may be advertised using </a:t>
            </a:r>
            <a:r>
              <a:rPr lang="en-US" sz="1050" b="1" dirty="0"/>
              <a:t>fast network notifications includes link failures, link congestion, SLA violations, and queue build-up etc</a:t>
            </a:r>
            <a:r>
              <a:rPr lang="en-US" sz="1050" dirty="0"/>
              <a:t>. An </a:t>
            </a:r>
            <a:r>
              <a:rPr lang="en-US" sz="1050" b="1" dirty="0"/>
              <a:t>information model will be defined</a:t>
            </a:r>
            <a:r>
              <a:rPr lang="en-US" sz="1050" dirty="0"/>
              <a:t> to structure the network condition data in a standardized way for effective dissemination and actions.</a:t>
            </a:r>
          </a:p>
          <a:p>
            <a:pPr marL="114300" indent="0">
              <a:buNone/>
            </a:pPr>
            <a:endParaRPr lang="en-US" sz="1050" dirty="0"/>
          </a:p>
          <a:p>
            <a:pPr marL="114300" indent="0">
              <a:buNone/>
            </a:pPr>
            <a:r>
              <a:rPr lang="en-US" sz="1050" dirty="0"/>
              <a:t>The fast network notifications may be used in network scenarios including Data Center Networks (DCN) and Wide Area Networks (WAN) which provide inter-connection between multiple data centers. The </a:t>
            </a:r>
            <a:r>
              <a:rPr lang="en-US" sz="1050" b="1" dirty="0"/>
              <a:t>specific protocols and mechanisms may be different to meet the requirements in different network scenarios.</a:t>
            </a:r>
          </a:p>
          <a:p>
            <a:pPr marL="114300" indent="0">
              <a:buNone/>
            </a:pPr>
            <a:endParaRPr lang="en-US" sz="1050" dirty="0"/>
          </a:p>
          <a:p>
            <a:pPr marL="114300" indent="0">
              <a:buNone/>
            </a:pPr>
            <a:r>
              <a:rPr lang="en-US" sz="1050" dirty="0"/>
              <a:t>The </a:t>
            </a:r>
            <a:r>
              <a:rPr lang="en-US" sz="1050" b="1" dirty="0"/>
              <a:t>protocols and mechanisms </a:t>
            </a:r>
            <a:r>
              <a:rPr lang="en-US" sz="1050" dirty="0"/>
              <a:t>developed by FANN for fast network notification </a:t>
            </a:r>
            <a:r>
              <a:rPr lang="en-US" sz="1050" b="1" dirty="0"/>
              <a:t>should be equally applicable to different IETF layer-3 data plane technologies</a:t>
            </a:r>
            <a:r>
              <a:rPr lang="en-US" sz="1050" dirty="0"/>
              <a:t> (i.e. IPv4, IPv6, SRv6 and MPLS), and should be useful for the management of both TE traffic and shortest-path / best effort traffic. </a:t>
            </a:r>
          </a:p>
          <a:p>
            <a:pPr marL="114300" indent="0">
              <a:buNone/>
            </a:pPr>
            <a:endParaRPr lang="en-US" sz="1050" dirty="0"/>
          </a:p>
          <a:p>
            <a:pPr marL="114300" indent="0">
              <a:buNone/>
            </a:pPr>
            <a:r>
              <a:rPr lang="en-US" sz="1050" dirty="0"/>
              <a:t>The FANN WG will identify the </a:t>
            </a:r>
            <a:r>
              <a:rPr lang="en-US" sz="1050" b="1" dirty="0"/>
              <a:t>threat models for fast network notifications,</a:t>
            </a:r>
            <a:r>
              <a:rPr lang="en-US" sz="1050" dirty="0"/>
              <a:t> and will </a:t>
            </a:r>
            <a:r>
              <a:rPr lang="en-US" sz="1050" b="1" dirty="0"/>
              <a:t>address the security considerations</a:t>
            </a:r>
            <a:r>
              <a:rPr lang="en-US" sz="1050" dirty="0"/>
              <a:t> introduced by the protocols it defines. </a:t>
            </a:r>
          </a:p>
          <a:p>
            <a:pPr marL="114300" indent="0">
              <a:buNone/>
            </a:pPr>
            <a:endParaRPr lang="en-US" sz="1050" dirty="0"/>
          </a:p>
          <a:p>
            <a:pPr marL="114300" indent="0">
              <a:buNone/>
            </a:pPr>
            <a:r>
              <a:rPr lang="en-US" sz="1050" dirty="0"/>
              <a:t>The </a:t>
            </a:r>
            <a:r>
              <a:rPr lang="en-US" sz="1050" b="1" dirty="0"/>
              <a:t>mechanisms for detecting network condition changes</a:t>
            </a:r>
            <a:r>
              <a:rPr lang="en-US" sz="1050" dirty="0"/>
              <a:t> and the specific </a:t>
            </a:r>
            <a:r>
              <a:rPr lang="en-US" sz="1050" b="1" dirty="0"/>
              <a:t>mechanisms for acting</a:t>
            </a:r>
            <a:r>
              <a:rPr lang="en-US" sz="1050" dirty="0"/>
              <a:t> upon received fast notifications are </a:t>
            </a:r>
            <a:r>
              <a:rPr lang="en-US" sz="1050" b="1" dirty="0"/>
              <a:t>out of scope. </a:t>
            </a:r>
          </a:p>
        </p:txBody>
      </p:sp>
      <p:sp>
        <p:nvSpPr>
          <p:cNvPr id="4" name="Slide Number Placeholder 3">
            <a:extLst>
              <a:ext uri="{FF2B5EF4-FFF2-40B4-BE49-F238E27FC236}">
                <a16:creationId xmlns:a16="http://schemas.microsoft.com/office/drawing/2014/main" id="{0D977B2E-B90A-8C3A-42DD-E3E020CE0998}"/>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3186811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BBBD8-0ED3-7083-7655-A60AAEA5A5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FCDFE8-C443-21F0-7CD2-9A189ED5B5E9}"/>
              </a:ext>
            </a:extLst>
          </p:cNvPr>
          <p:cNvSpPr>
            <a:spLocks noGrp="1"/>
          </p:cNvSpPr>
          <p:nvPr>
            <p:ph type="title"/>
          </p:nvPr>
        </p:nvSpPr>
        <p:spPr/>
        <p:txBody>
          <a:bodyPr/>
          <a:lstStyle/>
          <a:p>
            <a:r>
              <a:rPr lang="en-US" dirty="0"/>
              <a:t>FANN charter text discussion</a:t>
            </a:r>
            <a:br>
              <a:rPr lang="en-US" dirty="0"/>
            </a:br>
            <a:r>
              <a:rPr lang="en-US" b="1" dirty="0"/>
              <a:t>Work Items</a:t>
            </a:r>
            <a:r>
              <a:rPr lang="en-US" dirty="0"/>
              <a:t> </a:t>
            </a:r>
          </a:p>
        </p:txBody>
      </p:sp>
      <p:sp>
        <p:nvSpPr>
          <p:cNvPr id="3" name="Text Placeholder 2">
            <a:extLst>
              <a:ext uri="{FF2B5EF4-FFF2-40B4-BE49-F238E27FC236}">
                <a16:creationId xmlns:a16="http://schemas.microsoft.com/office/drawing/2014/main" id="{41A7E2FC-BFA3-98EF-7D05-633E71D1AA09}"/>
              </a:ext>
            </a:extLst>
          </p:cNvPr>
          <p:cNvSpPr>
            <a:spLocks noGrp="1"/>
          </p:cNvSpPr>
          <p:nvPr>
            <p:ph type="body" idx="1"/>
          </p:nvPr>
        </p:nvSpPr>
        <p:spPr>
          <a:xfrm>
            <a:off x="325354" y="1794600"/>
            <a:ext cx="8066400" cy="2710125"/>
          </a:xfrm>
        </p:spPr>
        <p:txBody>
          <a:bodyPr/>
          <a:lstStyle/>
          <a:p>
            <a:pPr marL="114300" indent="0">
              <a:buNone/>
            </a:pPr>
            <a:r>
              <a:rPr lang="en-US" sz="1000" dirty="0"/>
              <a:t>The WG will produce documents to address the following points:</a:t>
            </a:r>
          </a:p>
          <a:p>
            <a:pPr>
              <a:buSzPct val="100000"/>
            </a:pPr>
            <a:r>
              <a:rPr lang="en-US" sz="1000" b="1" dirty="0"/>
              <a:t>Requirements and Gap Analysis</a:t>
            </a:r>
          </a:p>
          <a:p>
            <a:pPr lvl="1">
              <a:spcBef>
                <a:spcPts val="0"/>
              </a:spcBef>
              <a:buSzPct val="100000"/>
            </a:pPr>
            <a:r>
              <a:rPr lang="en-US" sz="1000" dirty="0"/>
              <a:t>Provide the definition of "fast network notification".</a:t>
            </a:r>
          </a:p>
          <a:p>
            <a:pPr lvl="1">
              <a:spcBef>
                <a:spcPts val="0"/>
              </a:spcBef>
              <a:buSzPct val="100000"/>
            </a:pPr>
            <a:r>
              <a:rPr lang="en-US" sz="1000" dirty="0"/>
              <a:t>Consider use cases where fast network notification can significantly improve the effect and efficiency of traffic management mechanisms.</a:t>
            </a:r>
          </a:p>
          <a:p>
            <a:pPr lvl="1">
              <a:spcBef>
                <a:spcPts val="0"/>
              </a:spcBef>
              <a:buSzPct val="100000"/>
            </a:pPr>
            <a:r>
              <a:rPr lang="en-US" sz="1000" dirty="0"/>
              <a:t>For each use case, describe the requirements on the information needed, the time scale of the notification, and the actions to be performed. </a:t>
            </a:r>
          </a:p>
          <a:p>
            <a:pPr lvl="1">
              <a:spcBef>
                <a:spcPts val="0"/>
              </a:spcBef>
              <a:buSzPct val="100000"/>
            </a:pPr>
            <a:r>
              <a:rPr lang="en-US" sz="1000" dirty="0"/>
              <a:t>Identify the gaps for fast network notification mechanisms.   </a:t>
            </a:r>
          </a:p>
          <a:p>
            <a:pPr>
              <a:buSzPct val="100000"/>
            </a:pPr>
            <a:r>
              <a:rPr lang="en-US" sz="1000" dirty="0"/>
              <a:t>Define an </a:t>
            </a:r>
            <a:r>
              <a:rPr lang="en-US" sz="1000" b="1" dirty="0"/>
              <a:t>Information Model of fast network notifications</a:t>
            </a:r>
          </a:p>
          <a:p>
            <a:pPr lvl="1">
              <a:spcBef>
                <a:spcPts val="0"/>
              </a:spcBef>
              <a:buSzPct val="100000"/>
            </a:pPr>
            <a:r>
              <a:rPr lang="en-US" sz="1000" dirty="0"/>
              <a:t>Develop an Information Model that structures real-time network condition data in a standardized way for effective encoding in dissemination mechanisms and for efficient use by elements that take resultant actions.</a:t>
            </a:r>
          </a:p>
          <a:p>
            <a:pPr lvl="1">
              <a:spcBef>
                <a:spcPts val="0"/>
              </a:spcBef>
              <a:buSzPct val="100000"/>
            </a:pPr>
            <a:r>
              <a:rPr lang="en-US" sz="1000" dirty="0"/>
              <a:t>Define the requirements of the data needed for functions/actions including, but not limited to, traffic engineering, load balancing, flow control and protection switching.</a:t>
            </a:r>
          </a:p>
          <a:p>
            <a:pPr>
              <a:buSzPct val="100000"/>
            </a:pPr>
            <a:r>
              <a:rPr lang="en-US" sz="1000" dirty="0"/>
              <a:t>Develop </a:t>
            </a:r>
            <a:r>
              <a:rPr lang="en-US" sz="1000" b="1" dirty="0"/>
              <a:t>Fast Network Notification protocols</a:t>
            </a:r>
            <a:r>
              <a:rPr lang="en-US" sz="1000" dirty="0"/>
              <a:t> and the related mechanisms</a:t>
            </a:r>
          </a:p>
          <a:p>
            <a:pPr lvl="1">
              <a:spcBef>
                <a:spcPts val="0"/>
              </a:spcBef>
              <a:buSzPct val="100000"/>
            </a:pPr>
            <a:r>
              <a:rPr lang="en-US" sz="1000" dirty="0"/>
              <a:t>Specify the fast network notification protocols and mechanisms that allow network nodes that may take response actions to learn quickly about network conditions. Different protocols may be defined to meet the requirements in different network scenarios.</a:t>
            </a:r>
          </a:p>
          <a:p>
            <a:pPr marL="114300" indent="0">
              <a:buNone/>
            </a:pPr>
            <a:endParaRPr lang="en-US" sz="1000" dirty="0"/>
          </a:p>
        </p:txBody>
      </p:sp>
      <p:sp>
        <p:nvSpPr>
          <p:cNvPr id="4" name="Slide Number Placeholder 3">
            <a:extLst>
              <a:ext uri="{FF2B5EF4-FFF2-40B4-BE49-F238E27FC236}">
                <a16:creationId xmlns:a16="http://schemas.microsoft.com/office/drawing/2014/main" id="{52523384-6106-62AE-FCAD-5E6C7798A97F}"/>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3490564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CE7DC-46E8-EB7A-A15E-96F2475CB1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4F7534-EFC9-B46F-36B0-8AA5547AD9E8}"/>
              </a:ext>
            </a:extLst>
          </p:cNvPr>
          <p:cNvSpPr>
            <a:spLocks noGrp="1"/>
          </p:cNvSpPr>
          <p:nvPr>
            <p:ph type="title"/>
          </p:nvPr>
        </p:nvSpPr>
        <p:spPr/>
        <p:txBody>
          <a:bodyPr/>
          <a:lstStyle/>
          <a:p>
            <a:r>
              <a:rPr lang="en-US" dirty="0"/>
              <a:t>FANN charter text discussion</a:t>
            </a:r>
            <a:br>
              <a:rPr lang="en-US" dirty="0"/>
            </a:br>
            <a:r>
              <a:rPr lang="en-US" b="1" dirty="0"/>
              <a:t>Collaborations</a:t>
            </a:r>
            <a:r>
              <a:rPr lang="en-US" dirty="0"/>
              <a:t> </a:t>
            </a:r>
          </a:p>
        </p:txBody>
      </p:sp>
      <p:sp>
        <p:nvSpPr>
          <p:cNvPr id="3" name="Text Placeholder 2">
            <a:extLst>
              <a:ext uri="{FF2B5EF4-FFF2-40B4-BE49-F238E27FC236}">
                <a16:creationId xmlns:a16="http://schemas.microsoft.com/office/drawing/2014/main" id="{119A45EE-0344-ECD2-29B9-FFD5118DAC02}"/>
              </a:ext>
            </a:extLst>
          </p:cNvPr>
          <p:cNvSpPr>
            <a:spLocks noGrp="1"/>
          </p:cNvSpPr>
          <p:nvPr>
            <p:ph type="body" idx="1"/>
          </p:nvPr>
        </p:nvSpPr>
        <p:spPr/>
        <p:txBody>
          <a:bodyPr/>
          <a:lstStyle/>
          <a:p>
            <a:pPr marL="114300" indent="0">
              <a:buNone/>
            </a:pPr>
            <a:r>
              <a:rPr lang="en-US" sz="1600" dirty="0"/>
              <a:t>The FANN WG will collaborate closely with the </a:t>
            </a:r>
            <a:r>
              <a:rPr lang="en-US" sz="1600" b="1" dirty="0"/>
              <a:t>TEAS</a:t>
            </a:r>
            <a:r>
              <a:rPr lang="en-US" sz="1600" dirty="0"/>
              <a:t> WG to define the data needed for actions of traffic engineering mechanisms. It will collaborate with </a:t>
            </a:r>
            <a:r>
              <a:rPr lang="en-US" sz="1600" b="1" dirty="0"/>
              <a:t>RTGWG</a:t>
            </a:r>
            <a:r>
              <a:rPr lang="en-US" sz="1600" dirty="0"/>
              <a:t> for actions of Fast Reroute (FRR) and other protection mechanisms. It may collaborate with </a:t>
            </a:r>
            <a:r>
              <a:rPr lang="en-US" sz="1600" b="1" dirty="0"/>
              <a:t>IDR</a:t>
            </a:r>
            <a:r>
              <a:rPr lang="en-US" sz="1600" dirty="0"/>
              <a:t> and </a:t>
            </a:r>
            <a:r>
              <a:rPr lang="en-US" sz="1600" b="1" dirty="0"/>
              <a:t>LSR</a:t>
            </a:r>
            <a:r>
              <a:rPr lang="en-US" sz="1600" dirty="0"/>
              <a:t> WGs for the data needed by BGP and the IGPs. As needed, the WG will also coordinate with other relevant groups to communicate potential needs related to detection and data collection.</a:t>
            </a:r>
          </a:p>
        </p:txBody>
      </p:sp>
      <p:sp>
        <p:nvSpPr>
          <p:cNvPr id="4" name="Slide Number Placeholder 3">
            <a:extLst>
              <a:ext uri="{FF2B5EF4-FFF2-40B4-BE49-F238E27FC236}">
                <a16:creationId xmlns:a16="http://schemas.microsoft.com/office/drawing/2014/main" id="{A36AEA7F-3374-9309-9AB8-BB18B23103B3}"/>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152946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F8170-398A-C4FE-0B6E-41E0DD444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DFC1B-1554-2FC8-A7DE-018F63566324}"/>
              </a:ext>
            </a:extLst>
          </p:cNvPr>
          <p:cNvSpPr>
            <a:spLocks noGrp="1"/>
          </p:cNvSpPr>
          <p:nvPr>
            <p:ph type="title"/>
          </p:nvPr>
        </p:nvSpPr>
        <p:spPr/>
        <p:txBody>
          <a:bodyPr/>
          <a:lstStyle/>
          <a:p>
            <a:r>
              <a:rPr lang="en-US" dirty="0"/>
              <a:t>FANN charter text discussion</a:t>
            </a:r>
            <a:br>
              <a:rPr lang="en-US" dirty="0"/>
            </a:br>
            <a:r>
              <a:rPr lang="en-US" b="1" dirty="0"/>
              <a:t>Expected Milestones</a:t>
            </a:r>
            <a:r>
              <a:rPr lang="en-US" dirty="0"/>
              <a:t> </a:t>
            </a:r>
          </a:p>
        </p:txBody>
      </p:sp>
      <p:sp>
        <p:nvSpPr>
          <p:cNvPr id="3" name="Text Placeholder 2">
            <a:extLst>
              <a:ext uri="{FF2B5EF4-FFF2-40B4-BE49-F238E27FC236}">
                <a16:creationId xmlns:a16="http://schemas.microsoft.com/office/drawing/2014/main" id="{07ED03F3-88AD-9E95-30B9-E574E9888F72}"/>
              </a:ext>
            </a:extLst>
          </p:cNvPr>
          <p:cNvSpPr>
            <a:spLocks noGrp="1"/>
          </p:cNvSpPr>
          <p:nvPr>
            <p:ph type="body" idx="1"/>
          </p:nvPr>
        </p:nvSpPr>
        <p:spPr/>
        <p:txBody>
          <a:bodyPr/>
          <a:lstStyle/>
          <a:p>
            <a:pPr marL="342900" indent="-228600">
              <a:buSzPct val="100000"/>
              <a:buFont typeface="+mj-lt"/>
              <a:buAutoNum type="arabicPeriod"/>
            </a:pPr>
            <a:r>
              <a:rPr lang="en-US" sz="1600" dirty="0"/>
              <a:t>Requirements and Gap Analysis</a:t>
            </a:r>
          </a:p>
          <a:p>
            <a:pPr marL="342900" indent="-228600">
              <a:buFont typeface="+mj-lt"/>
              <a:buAutoNum type="arabicPeriod"/>
            </a:pPr>
            <a:endParaRPr lang="en-US" sz="1600" dirty="0"/>
          </a:p>
          <a:p>
            <a:pPr marL="342900" indent="-228600">
              <a:buSzPct val="100000"/>
              <a:buFont typeface="+mj-lt"/>
              <a:buAutoNum type="arabicPeriod"/>
            </a:pPr>
            <a:r>
              <a:rPr lang="en-US" sz="1600" dirty="0"/>
              <a:t>Fast Network Notification Information Model</a:t>
            </a:r>
          </a:p>
          <a:p>
            <a:pPr marL="342900" indent="-228600">
              <a:buSzPct val="100000"/>
              <a:buFont typeface="+mj-lt"/>
              <a:buAutoNum type="arabicPeriod"/>
            </a:pPr>
            <a:endParaRPr lang="en-US" sz="1600" dirty="0"/>
          </a:p>
          <a:p>
            <a:pPr marL="342900" indent="-228600">
              <a:buSzPct val="100000"/>
              <a:buFont typeface="+mj-lt"/>
              <a:buAutoNum type="arabicPeriod"/>
            </a:pPr>
            <a:r>
              <a:rPr lang="en-US" sz="1600" dirty="0"/>
              <a:t>Fast Network Notification Protocol Specifications</a:t>
            </a:r>
          </a:p>
        </p:txBody>
      </p:sp>
      <p:sp>
        <p:nvSpPr>
          <p:cNvPr id="4" name="Slide Number Placeholder 3">
            <a:extLst>
              <a:ext uri="{FF2B5EF4-FFF2-40B4-BE49-F238E27FC236}">
                <a16:creationId xmlns:a16="http://schemas.microsoft.com/office/drawing/2014/main" id="{05A4D93B-B255-FE87-7F9E-1C4F7C5F405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3240806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4A6CC-3F0E-4271-B01F-5FDC554B2A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7A217E-1F63-F22E-47EF-529A2F51477F}"/>
              </a:ext>
            </a:extLst>
          </p:cNvPr>
          <p:cNvSpPr>
            <a:spLocks noGrp="1"/>
          </p:cNvSpPr>
          <p:nvPr>
            <p:ph type="title"/>
          </p:nvPr>
        </p:nvSpPr>
        <p:spPr/>
        <p:txBody>
          <a:bodyPr/>
          <a:lstStyle/>
          <a:p>
            <a:r>
              <a:rPr lang="en-US" dirty="0"/>
              <a:t>FANN charter text discussion </a:t>
            </a:r>
            <a:r>
              <a:rPr lang="en-US" b="1" dirty="0"/>
              <a:t>Acknowledgements</a:t>
            </a:r>
          </a:p>
        </p:txBody>
      </p:sp>
      <p:sp>
        <p:nvSpPr>
          <p:cNvPr id="4" name="Slide Number Placeholder 3">
            <a:extLst>
              <a:ext uri="{FF2B5EF4-FFF2-40B4-BE49-F238E27FC236}">
                <a16:creationId xmlns:a16="http://schemas.microsoft.com/office/drawing/2014/main" id="{D352032F-3F3B-B75A-E937-3D05E41AEE6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10</a:t>
            </a:fld>
            <a:endParaRPr lang="en-US"/>
          </a:p>
        </p:txBody>
      </p:sp>
      <p:sp>
        <p:nvSpPr>
          <p:cNvPr id="6" name="Text Placeholder 5">
            <a:extLst>
              <a:ext uri="{FF2B5EF4-FFF2-40B4-BE49-F238E27FC236}">
                <a16:creationId xmlns:a16="http://schemas.microsoft.com/office/drawing/2014/main" id="{66FA077B-8A48-942A-00C5-E6BCC4EB33BB}"/>
              </a:ext>
            </a:extLst>
          </p:cNvPr>
          <p:cNvSpPr>
            <a:spLocks noGrp="1"/>
          </p:cNvSpPr>
          <p:nvPr>
            <p:ph type="body" idx="1"/>
          </p:nvPr>
        </p:nvSpPr>
        <p:spPr>
          <a:xfrm>
            <a:off x="538800" y="1802552"/>
            <a:ext cx="8066400" cy="2710125"/>
          </a:xfrm>
        </p:spPr>
        <p:txBody>
          <a:bodyPr/>
          <a:lstStyle/>
          <a:p>
            <a:r>
              <a:rPr lang="en-US" dirty="0"/>
              <a:t>Thanks to Adrian Farrel, </a:t>
            </a:r>
            <a:r>
              <a:rPr lang="en-CA" dirty="0"/>
              <a:t>Joel Halpern</a:t>
            </a:r>
            <a:r>
              <a:rPr lang="en-US" dirty="0"/>
              <a:t>, </a:t>
            </a:r>
            <a:r>
              <a:rPr lang="en-CA" dirty="0"/>
              <a:t>Tal Mizrahi </a:t>
            </a:r>
            <a:r>
              <a:rPr lang="en-US" dirty="0"/>
              <a:t>, </a:t>
            </a:r>
            <a:r>
              <a:rPr lang="en-CA" dirty="0" err="1"/>
              <a:t>Yongqing</a:t>
            </a:r>
            <a:r>
              <a:rPr lang="en-CA" dirty="0"/>
              <a:t> Zhu, Carlos J, Bernardos, Jiayuan Hu, et al.,  </a:t>
            </a:r>
            <a:r>
              <a:rPr lang="en-US" dirty="0"/>
              <a:t>for the review of the Charter text on the mailing list</a:t>
            </a:r>
          </a:p>
          <a:p>
            <a:endParaRPr lang="en-US" dirty="0"/>
          </a:p>
          <a:p>
            <a:r>
              <a:rPr lang="en-US" dirty="0"/>
              <a:t>Thanks to Jie Dong for addressing many review comments received – updates are work in progress</a:t>
            </a:r>
          </a:p>
        </p:txBody>
      </p:sp>
    </p:spTree>
    <p:extLst>
      <p:ext uri="{BB962C8B-B14F-4D97-AF65-F5344CB8AC3E}">
        <p14:creationId xmlns:p14="http://schemas.microsoft.com/office/powerpoint/2010/main" val="3462364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7DBBB-229F-A946-CCB0-7A00074B4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4EED8-209B-8394-328E-F884CE505F40}"/>
              </a:ext>
            </a:extLst>
          </p:cNvPr>
          <p:cNvSpPr>
            <a:spLocks noGrp="1"/>
          </p:cNvSpPr>
          <p:nvPr>
            <p:ph type="title"/>
          </p:nvPr>
        </p:nvSpPr>
        <p:spPr/>
        <p:txBody>
          <a:bodyPr/>
          <a:lstStyle/>
          <a:p>
            <a:r>
              <a:rPr lang="en-US" dirty="0"/>
              <a:t>FANN charter text discussion</a:t>
            </a:r>
            <a:br>
              <a:rPr lang="en-US" dirty="0"/>
            </a:br>
            <a:r>
              <a:rPr lang="en-US" b="1" dirty="0"/>
              <a:t>Open issues</a:t>
            </a:r>
          </a:p>
        </p:txBody>
      </p:sp>
      <p:sp>
        <p:nvSpPr>
          <p:cNvPr id="4" name="Slide Number Placeholder 3">
            <a:extLst>
              <a:ext uri="{FF2B5EF4-FFF2-40B4-BE49-F238E27FC236}">
                <a16:creationId xmlns:a16="http://schemas.microsoft.com/office/drawing/2014/main" id="{F6B15CEE-AFD6-783D-CFAD-2BC37FA82AC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11</a:t>
            </a:fld>
            <a:endParaRPr lang="en-US"/>
          </a:p>
        </p:txBody>
      </p:sp>
      <p:sp>
        <p:nvSpPr>
          <p:cNvPr id="6" name="Text Placeholder 5">
            <a:extLst>
              <a:ext uri="{FF2B5EF4-FFF2-40B4-BE49-F238E27FC236}">
                <a16:creationId xmlns:a16="http://schemas.microsoft.com/office/drawing/2014/main" id="{3635A212-D261-672A-C740-138F850B7DC9}"/>
              </a:ext>
            </a:extLst>
          </p:cNvPr>
          <p:cNvSpPr>
            <a:spLocks noGrp="1"/>
          </p:cNvSpPr>
          <p:nvPr>
            <p:ph type="body" idx="1"/>
          </p:nvPr>
        </p:nvSpPr>
        <p:spPr>
          <a:xfrm>
            <a:off x="538800" y="1802552"/>
            <a:ext cx="8066400" cy="2710125"/>
          </a:xfrm>
        </p:spPr>
        <p:txBody>
          <a:bodyPr/>
          <a:lstStyle/>
          <a:p>
            <a:r>
              <a:rPr lang="en-US" dirty="0"/>
              <a:t>Clarify base requirements – Adrian Farrel (</a:t>
            </a:r>
            <a:r>
              <a:rPr lang="en-US" dirty="0">
                <a:hlinkClick r:id="rId2"/>
              </a:rPr>
              <a:t>issue #8</a:t>
            </a:r>
            <a:r>
              <a:rPr lang="en-US" dirty="0"/>
              <a:t>)</a:t>
            </a:r>
          </a:p>
          <a:p>
            <a:pPr lvl="1">
              <a:spcBef>
                <a:spcPts val="0"/>
              </a:spcBef>
            </a:pPr>
            <a:r>
              <a:rPr lang="en-US" dirty="0"/>
              <a:t>The text brings up DCs. Sure they are important, but the scope does not need to mention them.</a:t>
            </a:r>
          </a:p>
          <a:p>
            <a:pPr lvl="1">
              <a:spcBef>
                <a:spcPts val="0"/>
              </a:spcBef>
            </a:pPr>
            <a:r>
              <a:rPr lang="en-US" dirty="0"/>
              <a:t>On the other hand, the scope should be more clear about the network services that the applications require and the issues that need to be survived.</a:t>
            </a:r>
          </a:p>
          <a:p>
            <a:r>
              <a:rPr lang="en-US" dirty="0"/>
              <a:t>Consider renaming FANN to FUN – Adrian Farrel (</a:t>
            </a:r>
            <a:r>
              <a:rPr lang="en-US" dirty="0">
                <a:hlinkClick r:id="rId3"/>
              </a:rPr>
              <a:t>issue #11</a:t>
            </a:r>
            <a:r>
              <a:rPr lang="en-US" dirty="0"/>
              <a:t>)</a:t>
            </a:r>
          </a:p>
          <a:p>
            <a:pPr lvl="1">
              <a:spcBef>
                <a:spcPts val="0"/>
              </a:spcBef>
            </a:pPr>
            <a:r>
              <a:rPr lang="en-US" dirty="0"/>
              <a:t>I'm not a fan of FANN. FUN would be more fun.</a:t>
            </a:r>
          </a:p>
          <a:p>
            <a:pPr lvl="1">
              <a:spcBef>
                <a:spcPts val="0"/>
              </a:spcBef>
            </a:pPr>
            <a:r>
              <a:rPr lang="en-US" dirty="0"/>
              <a:t>Fast Unrestricted Notifications</a:t>
            </a:r>
          </a:p>
        </p:txBody>
      </p:sp>
    </p:spTree>
    <p:extLst>
      <p:ext uri="{BB962C8B-B14F-4D97-AF65-F5344CB8AC3E}">
        <p14:creationId xmlns:p14="http://schemas.microsoft.com/office/powerpoint/2010/main" val="3003668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1159C-762D-4864-E97A-7EF9E719F5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89D24-2129-BFE6-AF54-1F344475EA78}"/>
              </a:ext>
            </a:extLst>
          </p:cNvPr>
          <p:cNvSpPr>
            <a:spLocks noGrp="1"/>
          </p:cNvSpPr>
          <p:nvPr>
            <p:ph type="title"/>
          </p:nvPr>
        </p:nvSpPr>
        <p:spPr/>
        <p:txBody>
          <a:bodyPr/>
          <a:lstStyle/>
          <a:p>
            <a:r>
              <a:rPr lang="en-US" dirty="0"/>
              <a:t>FANN charter text discussion</a:t>
            </a:r>
            <a:br>
              <a:rPr lang="en-US" dirty="0"/>
            </a:br>
            <a:r>
              <a:rPr lang="en-US" b="1" dirty="0"/>
              <a:t>Open issues</a:t>
            </a:r>
            <a:endParaRPr lang="en-US" dirty="0"/>
          </a:p>
        </p:txBody>
      </p:sp>
      <p:sp>
        <p:nvSpPr>
          <p:cNvPr id="4" name="Slide Number Placeholder 3">
            <a:extLst>
              <a:ext uri="{FF2B5EF4-FFF2-40B4-BE49-F238E27FC236}">
                <a16:creationId xmlns:a16="http://schemas.microsoft.com/office/drawing/2014/main" id="{F020DC95-469A-D509-8D52-5CCF9BF57358}"/>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12</a:t>
            </a:fld>
            <a:endParaRPr lang="en-US"/>
          </a:p>
        </p:txBody>
      </p:sp>
      <p:sp>
        <p:nvSpPr>
          <p:cNvPr id="6" name="Text Placeholder 5">
            <a:extLst>
              <a:ext uri="{FF2B5EF4-FFF2-40B4-BE49-F238E27FC236}">
                <a16:creationId xmlns:a16="http://schemas.microsoft.com/office/drawing/2014/main" id="{400C410B-2A0B-49D3-B36A-F07388101265}"/>
              </a:ext>
            </a:extLst>
          </p:cNvPr>
          <p:cNvSpPr>
            <a:spLocks noGrp="1"/>
          </p:cNvSpPr>
          <p:nvPr>
            <p:ph type="body" idx="1"/>
          </p:nvPr>
        </p:nvSpPr>
        <p:spPr>
          <a:xfrm>
            <a:off x="538800" y="1802552"/>
            <a:ext cx="7942260" cy="2710125"/>
          </a:xfrm>
        </p:spPr>
        <p:txBody>
          <a:bodyPr/>
          <a:lstStyle/>
          <a:p>
            <a:r>
              <a:rPr lang="en-US" sz="1400" dirty="0"/>
              <a:t>Who notifies whom? – Adrian Farrel (</a:t>
            </a:r>
            <a:r>
              <a:rPr lang="en-US" sz="1400" dirty="0">
                <a:hlinkClick r:id="rId2"/>
              </a:rPr>
              <a:t>issue #16</a:t>
            </a:r>
            <a:r>
              <a:rPr lang="en-US" sz="1400" dirty="0"/>
              <a:t>)</a:t>
            </a:r>
          </a:p>
          <a:p>
            <a:pPr lvl="1">
              <a:spcBef>
                <a:spcPts val="0"/>
              </a:spcBef>
            </a:pPr>
            <a:r>
              <a:rPr lang="en-US" sz="1100" dirty="0"/>
              <a:t>The text has:</a:t>
            </a:r>
          </a:p>
          <a:p>
            <a:pPr lvl="2">
              <a:spcBef>
                <a:spcPts val="0"/>
              </a:spcBef>
            </a:pPr>
            <a:r>
              <a:rPr lang="en-US" sz="1100" dirty="0"/>
              <a:t>The </a:t>
            </a:r>
            <a:r>
              <a:rPr lang="en-US" sz="1100" dirty="0" err="1"/>
              <a:t>FAst</a:t>
            </a:r>
            <a:r>
              <a:rPr lang="en-US" sz="1100" dirty="0"/>
              <a:t> Network Notification (FANN) Working Group is chartered to specify the protocols, mechanisms, and procedures for on-demand, fast notifications of fine-grained network status information, which allow network nodes that may take response actions to learn quickly about the network conditions.</a:t>
            </a:r>
          </a:p>
          <a:p>
            <a:pPr lvl="1">
              <a:spcBef>
                <a:spcPts val="0"/>
              </a:spcBef>
            </a:pPr>
            <a:r>
              <a:rPr lang="en-US" sz="1100" dirty="0"/>
              <a:t>This is fine except it leaves out the agents. Who does what?</a:t>
            </a:r>
          </a:p>
          <a:p>
            <a:pPr lvl="1">
              <a:spcBef>
                <a:spcPts val="0"/>
              </a:spcBef>
            </a:pPr>
            <a:r>
              <a:rPr lang="en-US" sz="1100" dirty="0"/>
              <a:t>It is fairly clear that it is the network elements that do the notification. We can easily clarify that.</a:t>
            </a:r>
          </a:p>
          <a:p>
            <a:pPr lvl="1">
              <a:spcBef>
                <a:spcPts val="0"/>
              </a:spcBef>
            </a:pPr>
            <a:r>
              <a:rPr lang="en-US" sz="1100" dirty="0"/>
              <a:t>Who they notify is a trickier question, but it is fundamental to the work that has to be done by the WG</a:t>
            </a:r>
          </a:p>
          <a:p>
            <a:pPr lvl="2">
              <a:spcBef>
                <a:spcPts val="0"/>
              </a:spcBef>
            </a:pPr>
            <a:r>
              <a:rPr lang="en-US" sz="1100" dirty="0"/>
              <a:t>Notifying the neighbor is one thing.</a:t>
            </a:r>
          </a:p>
          <a:p>
            <a:pPr lvl="2">
              <a:spcBef>
                <a:spcPts val="0"/>
              </a:spcBef>
            </a:pPr>
            <a:r>
              <a:rPr lang="en-US" sz="1100" dirty="0"/>
              <a:t>Notifying the head of a path or even all the notes on a path may be possible in some systems.</a:t>
            </a:r>
          </a:p>
          <a:p>
            <a:pPr lvl="2">
              <a:spcBef>
                <a:spcPts val="0"/>
              </a:spcBef>
            </a:pPr>
            <a:r>
              <a:rPr lang="en-US" sz="1100" dirty="0"/>
              <a:t>Or perhaps we want to notify a controller or fault correlation point.</a:t>
            </a:r>
          </a:p>
          <a:p>
            <a:pPr lvl="2">
              <a:spcBef>
                <a:spcPts val="0"/>
              </a:spcBef>
            </a:pPr>
            <a:r>
              <a:rPr lang="en-US" sz="1100" dirty="0"/>
              <a:t>And (probably quite important) we may need to notify multiple places in the network where traffic steering decisions are made.</a:t>
            </a:r>
          </a:p>
        </p:txBody>
      </p:sp>
    </p:spTree>
    <p:extLst>
      <p:ext uri="{BB962C8B-B14F-4D97-AF65-F5344CB8AC3E}">
        <p14:creationId xmlns:p14="http://schemas.microsoft.com/office/powerpoint/2010/main" val="2339125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E4D5F-45FD-E088-FB06-E5B82BA517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BEB61A-5AD6-2727-5ED4-A611D5C1F89A}"/>
              </a:ext>
            </a:extLst>
          </p:cNvPr>
          <p:cNvSpPr>
            <a:spLocks noGrp="1"/>
          </p:cNvSpPr>
          <p:nvPr>
            <p:ph type="title"/>
          </p:nvPr>
        </p:nvSpPr>
        <p:spPr/>
        <p:txBody>
          <a:bodyPr/>
          <a:lstStyle/>
          <a:p>
            <a:r>
              <a:rPr lang="en-US" dirty="0"/>
              <a:t>FANN charter text discussion</a:t>
            </a:r>
            <a:br>
              <a:rPr lang="en-US" dirty="0"/>
            </a:br>
            <a:r>
              <a:rPr lang="en-US" b="1" dirty="0"/>
              <a:t>Open issues</a:t>
            </a:r>
            <a:endParaRPr lang="en-US" dirty="0"/>
          </a:p>
        </p:txBody>
      </p:sp>
      <p:sp>
        <p:nvSpPr>
          <p:cNvPr id="4" name="Slide Number Placeholder 3">
            <a:extLst>
              <a:ext uri="{FF2B5EF4-FFF2-40B4-BE49-F238E27FC236}">
                <a16:creationId xmlns:a16="http://schemas.microsoft.com/office/drawing/2014/main" id="{C90AAB81-3CC3-E3D1-FB8A-C62F56F8CEEE}"/>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13</a:t>
            </a:fld>
            <a:endParaRPr lang="en-US"/>
          </a:p>
        </p:txBody>
      </p:sp>
      <p:sp>
        <p:nvSpPr>
          <p:cNvPr id="6" name="Text Placeholder 5">
            <a:extLst>
              <a:ext uri="{FF2B5EF4-FFF2-40B4-BE49-F238E27FC236}">
                <a16:creationId xmlns:a16="http://schemas.microsoft.com/office/drawing/2014/main" id="{D035634A-DF2C-95E5-87A5-736DEEDC4B89}"/>
              </a:ext>
            </a:extLst>
          </p:cNvPr>
          <p:cNvSpPr>
            <a:spLocks noGrp="1"/>
          </p:cNvSpPr>
          <p:nvPr>
            <p:ph type="body" idx="1"/>
          </p:nvPr>
        </p:nvSpPr>
        <p:spPr>
          <a:xfrm>
            <a:off x="538800" y="1802552"/>
            <a:ext cx="7690800" cy="2710125"/>
          </a:xfrm>
        </p:spPr>
        <p:txBody>
          <a:bodyPr/>
          <a:lstStyle/>
          <a:p>
            <a:r>
              <a:rPr lang="en-US" sz="1400" dirty="0"/>
              <a:t>The relationship with other working groups needs refinement – Adrian Farrel (</a:t>
            </a:r>
            <a:r>
              <a:rPr lang="en-US" sz="1400" dirty="0">
                <a:hlinkClick r:id="rId2"/>
              </a:rPr>
              <a:t>issue #18</a:t>
            </a:r>
            <a:r>
              <a:rPr lang="en-US" sz="1400" dirty="0"/>
              <a:t>)</a:t>
            </a:r>
          </a:p>
          <a:p>
            <a:pPr lvl="1">
              <a:spcBef>
                <a:spcPts val="0"/>
              </a:spcBef>
            </a:pPr>
            <a:r>
              <a:rPr lang="en-US" sz="1100" dirty="0"/>
              <a:t>Some clarifications of why TEAS and RTGWG need cooperation - this is just tidying the words.</a:t>
            </a:r>
          </a:p>
          <a:p>
            <a:pPr lvl="1">
              <a:spcBef>
                <a:spcPts val="0"/>
              </a:spcBef>
            </a:pPr>
            <a:r>
              <a:rPr lang="en-US" sz="1100" dirty="0"/>
              <a:t>Don't forget the important roles of NMOP and IVY in this work.</a:t>
            </a:r>
          </a:p>
          <a:p>
            <a:r>
              <a:rPr lang="en-US" sz="1400" dirty="0"/>
              <a:t>Focus the scope – Adrian Farrel (</a:t>
            </a:r>
            <a:r>
              <a:rPr lang="en-US" sz="1400" dirty="0">
                <a:hlinkClick r:id="rId3"/>
              </a:rPr>
              <a:t>issue #20</a:t>
            </a:r>
            <a:r>
              <a:rPr lang="en-US" sz="1400" dirty="0"/>
              <a:t>)</a:t>
            </a:r>
          </a:p>
          <a:p>
            <a:pPr lvl="1">
              <a:spcBef>
                <a:spcPts val="0"/>
              </a:spcBef>
            </a:pPr>
            <a:r>
              <a:rPr lang="en-US" sz="1100" dirty="0"/>
              <a:t>Currently the scope says inter-DC WAN and intra-DC.</a:t>
            </a:r>
          </a:p>
          <a:p>
            <a:pPr lvl="1">
              <a:spcBef>
                <a:spcPts val="0"/>
              </a:spcBef>
            </a:pPr>
            <a:r>
              <a:rPr lang="en-US" sz="1100" dirty="0"/>
              <a:t>While it is possible that a single solution will fit both cases, the text goes on to note that it might not.</a:t>
            </a:r>
          </a:p>
          <a:p>
            <a:pPr lvl="1">
              <a:spcBef>
                <a:spcPts val="0"/>
              </a:spcBef>
            </a:pPr>
            <a:r>
              <a:rPr lang="en-US" sz="1100" dirty="0"/>
              <a:t>We need to focus our work by selecting our main target problem and observing that other scenarios might also be solved by our work.</a:t>
            </a:r>
          </a:p>
          <a:p>
            <a:pPr lvl="1">
              <a:spcBef>
                <a:spcPts val="0"/>
              </a:spcBef>
            </a:pPr>
            <a:r>
              <a:rPr lang="en-US" sz="1100" dirty="0"/>
              <a:t>I suggest that we have (in order of priority):</a:t>
            </a:r>
          </a:p>
          <a:p>
            <a:pPr lvl="2">
              <a:spcBef>
                <a:spcPts val="0"/>
              </a:spcBef>
            </a:pPr>
            <a:r>
              <a:rPr lang="en-US" sz="1100" dirty="0"/>
              <a:t>inter-DC WAN</a:t>
            </a:r>
          </a:p>
          <a:p>
            <a:pPr lvl="2">
              <a:spcBef>
                <a:spcPts val="0"/>
              </a:spcBef>
            </a:pPr>
            <a:r>
              <a:rPr lang="en-US" sz="1100" dirty="0"/>
              <a:t>any other WAN use case</a:t>
            </a:r>
          </a:p>
          <a:p>
            <a:pPr lvl="2">
              <a:spcBef>
                <a:spcPts val="0"/>
              </a:spcBef>
            </a:pPr>
            <a:r>
              <a:rPr lang="en-US" sz="1100" dirty="0"/>
              <a:t>intra-DC</a:t>
            </a:r>
          </a:p>
          <a:p>
            <a:pPr lvl="1">
              <a:spcBef>
                <a:spcPts val="0"/>
              </a:spcBef>
            </a:pPr>
            <a:r>
              <a:rPr lang="en-US" sz="1100" dirty="0"/>
              <a:t>I also suggest that we can safely bundle 1 and 2, but that 3 should be marked as "if we get it for free, that is fine, but we won't target it."</a:t>
            </a:r>
          </a:p>
        </p:txBody>
      </p:sp>
    </p:spTree>
    <p:extLst>
      <p:ext uri="{BB962C8B-B14F-4D97-AF65-F5344CB8AC3E}">
        <p14:creationId xmlns:p14="http://schemas.microsoft.com/office/powerpoint/2010/main" val="4200629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7F9C9-9ABF-5643-DDEA-2DD4E449F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11410-E3B4-2A8D-3CAE-64AB22EFFE81}"/>
              </a:ext>
            </a:extLst>
          </p:cNvPr>
          <p:cNvSpPr>
            <a:spLocks noGrp="1"/>
          </p:cNvSpPr>
          <p:nvPr>
            <p:ph type="title"/>
          </p:nvPr>
        </p:nvSpPr>
        <p:spPr/>
        <p:txBody>
          <a:bodyPr/>
          <a:lstStyle/>
          <a:p>
            <a:r>
              <a:rPr lang="en-US" dirty="0"/>
              <a:t>FANN charter text discussion</a:t>
            </a:r>
            <a:br>
              <a:rPr lang="en-US" dirty="0"/>
            </a:br>
            <a:r>
              <a:rPr lang="en-US" b="1" dirty="0"/>
              <a:t>Open issues</a:t>
            </a:r>
            <a:endParaRPr lang="en-US" dirty="0"/>
          </a:p>
        </p:txBody>
      </p:sp>
      <p:sp>
        <p:nvSpPr>
          <p:cNvPr id="4" name="Slide Number Placeholder 3">
            <a:extLst>
              <a:ext uri="{FF2B5EF4-FFF2-40B4-BE49-F238E27FC236}">
                <a16:creationId xmlns:a16="http://schemas.microsoft.com/office/drawing/2014/main" id="{891F9F6B-A428-0E94-21C0-A5CF24470A28}"/>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14</a:t>
            </a:fld>
            <a:endParaRPr lang="en-US"/>
          </a:p>
        </p:txBody>
      </p:sp>
      <p:sp>
        <p:nvSpPr>
          <p:cNvPr id="6" name="Text Placeholder 5">
            <a:extLst>
              <a:ext uri="{FF2B5EF4-FFF2-40B4-BE49-F238E27FC236}">
                <a16:creationId xmlns:a16="http://schemas.microsoft.com/office/drawing/2014/main" id="{B7A4D9B5-3B7A-2373-A105-92812DFE5744}"/>
              </a:ext>
            </a:extLst>
          </p:cNvPr>
          <p:cNvSpPr>
            <a:spLocks noGrp="1"/>
          </p:cNvSpPr>
          <p:nvPr>
            <p:ph type="body" idx="1"/>
          </p:nvPr>
        </p:nvSpPr>
        <p:spPr>
          <a:xfrm>
            <a:off x="538800" y="1802552"/>
            <a:ext cx="8066400" cy="2710125"/>
          </a:xfrm>
        </p:spPr>
        <p:txBody>
          <a:bodyPr/>
          <a:lstStyle/>
          <a:p>
            <a:r>
              <a:rPr lang="en-US" dirty="0"/>
              <a:t>Refine work in Requirements and Gap Analysis deliverable – Adrian Farrel (</a:t>
            </a:r>
            <a:r>
              <a:rPr lang="en-US" dirty="0">
                <a:hlinkClick r:id="rId2"/>
              </a:rPr>
              <a:t>issue #24</a:t>
            </a:r>
            <a:r>
              <a:rPr lang="en-US" dirty="0"/>
              <a:t>)</a:t>
            </a:r>
          </a:p>
          <a:p>
            <a:pPr lvl="1">
              <a:spcBef>
                <a:spcPts val="0"/>
              </a:spcBef>
            </a:pPr>
            <a:r>
              <a:rPr lang="en-US" dirty="0"/>
              <a:t>For each use case, also need to work out who collects and who consumes the information.</a:t>
            </a:r>
          </a:p>
          <a:p>
            <a:pPr lvl="1">
              <a:spcBef>
                <a:spcPts val="0"/>
              </a:spcBef>
            </a:pPr>
            <a:r>
              <a:rPr lang="en-US" dirty="0"/>
              <a:t>For gap analysis, need to properly consider existing protocols.</a:t>
            </a:r>
          </a:p>
          <a:p>
            <a:r>
              <a:rPr lang="en-US" dirty="0"/>
              <a:t>Protocols deliverable needs work – Adrian Farrel (</a:t>
            </a:r>
            <a:r>
              <a:rPr lang="en-US" dirty="0">
                <a:hlinkClick r:id="rId3"/>
              </a:rPr>
              <a:t>issue #28</a:t>
            </a:r>
            <a:r>
              <a:rPr lang="en-US" dirty="0"/>
              <a:t>)</a:t>
            </a:r>
          </a:p>
          <a:p>
            <a:pPr lvl="1">
              <a:spcBef>
                <a:spcPts val="0"/>
              </a:spcBef>
            </a:pPr>
            <a:r>
              <a:rPr lang="en-US" dirty="0"/>
              <a:t>Must </a:t>
            </a:r>
            <a:r>
              <a:rPr lang="en-US" dirty="0" err="1"/>
              <a:t>recognise</a:t>
            </a:r>
            <a:r>
              <a:rPr lang="en-US" dirty="0"/>
              <a:t> protocol extensions as a possibility.</a:t>
            </a:r>
          </a:p>
          <a:p>
            <a:pPr lvl="1">
              <a:spcBef>
                <a:spcPts val="0"/>
              </a:spcBef>
            </a:pPr>
            <a:r>
              <a:rPr lang="en-US" dirty="0"/>
              <a:t>No need to say why we have fast notifications (we already know from the rest of the charter).</a:t>
            </a:r>
          </a:p>
          <a:p>
            <a:pPr lvl="1">
              <a:spcBef>
                <a:spcPts val="0"/>
              </a:spcBef>
            </a:pPr>
            <a:r>
              <a:rPr lang="en-US" dirty="0"/>
              <a:t>Very important that any protocol extensions are handled in association with the WG that owns the protocol.</a:t>
            </a:r>
          </a:p>
        </p:txBody>
      </p:sp>
    </p:spTree>
    <p:extLst>
      <p:ext uri="{BB962C8B-B14F-4D97-AF65-F5344CB8AC3E}">
        <p14:creationId xmlns:p14="http://schemas.microsoft.com/office/powerpoint/2010/main" val="483566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A912E-6279-0822-F8D8-2DFC20DA39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A145A3-DCFD-6C85-1AF5-3D6D0E209622}"/>
              </a:ext>
            </a:extLst>
          </p:cNvPr>
          <p:cNvSpPr>
            <a:spLocks noGrp="1"/>
          </p:cNvSpPr>
          <p:nvPr>
            <p:ph type="title"/>
          </p:nvPr>
        </p:nvSpPr>
        <p:spPr/>
        <p:txBody>
          <a:bodyPr/>
          <a:lstStyle/>
          <a:p>
            <a:r>
              <a:rPr lang="en-US" dirty="0"/>
              <a:t>FANN charter text discussion</a:t>
            </a:r>
            <a:br>
              <a:rPr lang="en-US" dirty="0"/>
            </a:br>
            <a:r>
              <a:rPr lang="en-US" b="1" dirty="0"/>
              <a:t>Open issues</a:t>
            </a:r>
            <a:endParaRPr lang="en-US" dirty="0"/>
          </a:p>
        </p:txBody>
      </p:sp>
      <p:sp>
        <p:nvSpPr>
          <p:cNvPr id="4" name="Slide Number Placeholder 3">
            <a:extLst>
              <a:ext uri="{FF2B5EF4-FFF2-40B4-BE49-F238E27FC236}">
                <a16:creationId xmlns:a16="http://schemas.microsoft.com/office/drawing/2014/main" id="{711A951E-0DE9-26ED-803D-4B5010E17F75}"/>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15</a:t>
            </a:fld>
            <a:endParaRPr lang="en-US"/>
          </a:p>
        </p:txBody>
      </p:sp>
      <p:sp>
        <p:nvSpPr>
          <p:cNvPr id="6" name="Text Placeholder 5">
            <a:extLst>
              <a:ext uri="{FF2B5EF4-FFF2-40B4-BE49-F238E27FC236}">
                <a16:creationId xmlns:a16="http://schemas.microsoft.com/office/drawing/2014/main" id="{F586499F-D2FB-5194-58F1-CB55FB50CA22}"/>
              </a:ext>
            </a:extLst>
          </p:cNvPr>
          <p:cNvSpPr>
            <a:spLocks noGrp="1"/>
          </p:cNvSpPr>
          <p:nvPr>
            <p:ph type="body" idx="1"/>
          </p:nvPr>
        </p:nvSpPr>
        <p:spPr>
          <a:xfrm>
            <a:off x="538800" y="1802552"/>
            <a:ext cx="8066400" cy="2710125"/>
          </a:xfrm>
        </p:spPr>
        <p:txBody>
          <a:bodyPr/>
          <a:lstStyle/>
          <a:p>
            <a:r>
              <a:rPr lang="en-US" sz="1600" dirty="0"/>
              <a:t>Comments from </a:t>
            </a:r>
            <a:r>
              <a:rPr lang="en-US" sz="1600" dirty="0" err="1"/>
              <a:t>Yongqing</a:t>
            </a:r>
            <a:r>
              <a:rPr lang="en-US" sz="1600" dirty="0"/>
              <a:t> Zhu (</a:t>
            </a:r>
            <a:r>
              <a:rPr lang="en-US" sz="1600" dirty="0">
                <a:hlinkClick r:id="rId2"/>
              </a:rPr>
              <a:t>issue #30</a:t>
            </a:r>
            <a:r>
              <a:rPr lang="en-US" sz="1600" dirty="0"/>
              <a:t>)</a:t>
            </a:r>
          </a:p>
          <a:p>
            <a:pPr marL="939800" lvl="1" indent="-342900">
              <a:spcBef>
                <a:spcPts val="0"/>
              </a:spcBef>
              <a:buSzPct val="100000"/>
              <a:buFont typeface="+mj-lt"/>
              <a:buAutoNum type="arabicPeriod"/>
            </a:pPr>
            <a:r>
              <a:rPr lang="en-US" sz="1200" dirty="0"/>
              <a:t>Modern network applications, ranging from AI/ML training to cloud services, require adaptive networks to ensure reliable and congestion-free data transfer within or across multiple data centers.</a:t>
            </a:r>
          </a:p>
          <a:p>
            <a:pPr marL="1054100" lvl="2" indent="0">
              <a:spcBef>
                <a:spcPts val="0"/>
              </a:spcBef>
              <a:buNone/>
            </a:pPr>
            <a:r>
              <a:rPr lang="en-US" sz="1200" dirty="0"/>
              <a:t>[</a:t>
            </a:r>
            <a:r>
              <a:rPr lang="en-US" sz="1200" dirty="0" err="1"/>
              <a:t>Yongqing</a:t>
            </a:r>
            <a:r>
              <a:rPr lang="en-US" sz="1200" dirty="0"/>
              <a:t>] I think "require adaptive networks to ensure reliable, balanced, and congestion-free data transfer within or across multiple data centers." is better.</a:t>
            </a:r>
          </a:p>
          <a:p>
            <a:pPr marL="939800" lvl="1" indent="-342900">
              <a:spcBef>
                <a:spcPts val="0"/>
              </a:spcBef>
              <a:buSzPct val="100000"/>
              <a:buFont typeface="+mj-lt"/>
              <a:buAutoNum type="arabicPeriod"/>
            </a:pPr>
            <a:r>
              <a:rPr lang="en-US" sz="1200" dirty="0"/>
              <a:t>… to disseminate such information to relevant network nodes for their actions (e.g., traffic engineering (TE), load balancing, flow control, and protection switching etc.)</a:t>
            </a:r>
          </a:p>
          <a:p>
            <a:pPr marL="1054100" lvl="2" indent="0">
              <a:spcBef>
                <a:spcPts val="0"/>
              </a:spcBef>
              <a:buNone/>
            </a:pPr>
            <a:r>
              <a:rPr lang="en-US" sz="1200" dirty="0"/>
              <a:t>[</a:t>
            </a:r>
            <a:r>
              <a:rPr lang="en-US" sz="1200" dirty="0" err="1"/>
              <a:t>Yongqing</a:t>
            </a:r>
            <a:r>
              <a:rPr lang="en-US" sz="1200" dirty="0"/>
              <a:t>] Generally speaking (as described in RFC9522),  “load balancing, flow control, and protection switching” are major aspects of the TE. But sometimes, TE also refers to some specific technologies (e.g. SR-TE, MPLS-TE, etc.) which can compute a path based on the network status and/or service demand, and steer traffic along the path. If the "TE" you mentioned here is the former one, it’s better to be removed to avoid unnecessary repetition.</a:t>
            </a:r>
          </a:p>
          <a:p>
            <a:pPr marL="939800" lvl="1" indent="-342900">
              <a:spcBef>
                <a:spcPts val="0"/>
              </a:spcBef>
              <a:buFont typeface="+mj-lt"/>
              <a:buAutoNum type="arabicPeriod"/>
            </a:pPr>
            <a:endParaRPr lang="en-US" sz="1200" dirty="0"/>
          </a:p>
        </p:txBody>
      </p:sp>
    </p:spTree>
    <p:extLst>
      <p:ext uri="{BB962C8B-B14F-4D97-AF65-F5344CB8AC3E}">
        <p14:creationId xmlns:p14="http://schemas.microsoft.com/office/powerpoint/2010/main" val="770136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A4EB7-5CBF-BDEC-9E62-B2AFF0BCB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64BCD7-21BD-C6F2-8D15-267E2F7BB053}"/>
              </a:ext>
            </a:extLst>
          </p:cNvPr>
          <p:cNvSpPr>
            <a:spLocks noGrp="1"/>
          </p:cNvSpPr>
          <p:nvPr>
            <p:ph type="title"/>
          </p:nvPr>
        </p:nvSpPr>
        <p:spPr/>
        <p:txBody>
          <a:bodyPr/>
          <a:lstStyle/>
          <a:p>
            <a:r>
              <a:rPr lang="en-US" dirty="0"/>
              <a:t>FANN charter text discussion</a:t>
            </a:r>
            <a:br>
              <a:rPr lang="en-US" dirty="0"/>
            </a:br>
            <a:r>
              <a:rPr lang="en-US" b="1" dirty="0"/>
              <a:t>Open issues</a:t>
            </a:r>
            <a:endParaRPr lang="en-US" dirty="0"/>
          </a:p>
        </p:txBody>
      </p:sp>
      <p:sp>
        <p:nvSpPr>
          <p:cNvPr id="4" name="Slide Number Placeholder 3">
            <a:extLst>
              <a:ext uri="{FF2B5EF4-FFF2-40B4-BE49-F238E27FC236}">
                <a16:creationId xmlns:a16="http://schemas.microsoft.com/office/drawing/2014/main" id="{DB1679D5-FF4C-7386-B207-924F43D0E5C4}"/>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16</a:t>
            </a:fld>
            <a:endParaRPr lang="en-US"/>
          </a:p>
        </p:txBody>
      </p:sp>
      <p:sp>
        <p:nvSpPr>
          <p:cNvPr id="6" name="Text Placeholder 5">
            <a:extLst>
              <a:ext uri="{FF2B5EF4-FFF2-40B4-BE49-F238E27FC236}">
                <a16:creationId xmlns:a16="http://schemas.microsoft.com/office/drawing/2014/main" id="{9F741E28-B0A5-5985-1EA3-25746AC53769}"/>
              </a:ext>
            </a:extLst>
          </p:cNvPr>
          <p:cNvSpPr>
            <a:spLocks noGrp="1"/>
          </p:cNvSpPr>
          <p:nvPr>
            <p:ph type="body" idx="1"/>
          </p:nvPr>
        </p:nvSpPr>
        <p:spPr>
          <a:xfrm>
            <a:off x="538800" y="1802552"/>
            <a:ext cx="8066400" cy="2710125"/>
          </a:xfrm>
        </p:spPr>
        <p:txBody>
          <a:bodyPr/>
          <a:lstStyle/>
          <a:p>
            <a:r>
              <a:rPr lang="en-US" sz="1600" dirty="0"/>
              <a:t>Comments from </a:t>
            </a:r>
            <a:r>
              <a:rPr lang="en-US" sz="1600" dirty="0" err="1"/>
              <a:t>Yongqing</a:t>
            </a:r>
            <a:r>
              <a:rPr lang="en-US" sz="1600" dirty="0"/>
              <a:t> Zhu (</a:t>
            </a:r>
            <a:r>
              <a:rPr lang="en-US" sz="1600" dirty="0">
                <a:hlinkClick r:id="rId2"/>
              </a:rPr>
              <a:t>issue #30</a:t>
            </a:r>
            <a:r>
              <a:rPr lang="en-US" sz="1600" dirty="0"/>
              <a:t>)</a:t>
            </a:r>
          </a:p>
          <a:p>
            <a:pPr marL="939800" lvl="1" indent="-342900">
              <a:spcBef>
                <a:spcPts val="0"/>
              </a:spcBef>
              <a:buSzPct val="100000"/>
              <a:buFont typeface="+mj-lt"/>
              <a:buAutoNum type="arabicPeriod" startAt="3"/>
            </a:pPr>
            <a:r>
              <a:rPr lang="en-US" sz="1200" dirty="0"/>
              <a:t>It is considered that the protocols and mechanisms of fast network notifications can be applied to different data plane technologies in layer-3 (e.g. IPv4, IPv6, SRv6 and MPLS), and the mechanisms can be useful for the management of both the TE traffic and the traffic which takes the shortest paths.</a:t>
            </a:r>
          </a:p>
          <a:p>
            <a:pPr marL="1054100" lvl="2" indent="0">
              <a:spcBef>
                <a:spcPts val="0"/>
              </a:spcBef>
              <a:buNone/>
            </a:pPr>
            <a:r>
              <a:rPr lang="en-US" sz="1200" dirty="0"/>
              <a:t>[</a:t>
            </a:r>
            <a:r>
              <a:rPr lang="en-US" sz="1200" dirty="0" err="1"/>
              <a:t>Yongqing</a:t>
            </a:r>
            <a:r>
              <a:rPr lang="en-US" sz="1200" dirty="0"/>
              <a:t>] MPLS is not a L3 technology. If we want to emphasize the phrase “Layer-3”, then MPLS should be removed here; otherwise, the data plan technology should not be confined to L3.</a:t>
            </a:r>
          </a:p>
          <a:p>
            <a:pPr marL="939800" lvl="1" indent="-342900">
              <a:spcBef>
                <a:spcPts val="0"/>
              </a:spcBef>
              <a:buFont typeface="+mj-lt"/>
              <a:buAutoNum type="arabicPeriod" startAt="3"/>
            </a:pPr>
            <a:r>
              <a:rPr lang="en-US" sz="1200" dirty="0"/>
              <a:t>#Work items / Requirements and Gap Analysis / o For each use case, describe the requirements on the information needed, the time scale of the notification, and the actions to be </a:t>
            </a:r>
            <a:r>
              <a:rPr lang="en-US" sz="1200" dirty="0" err="1"/>
              <a:t>peformed</a:t>
            </a:r>
            <a:r>
              <a:rPr lang="en-US" sz="1200" dirty="0"/>
              <a:t>.</a:t>
            </a:r>
          </a:p>
          <a:p>
            <a:pPr marL="1054100" lvl="2" indent="0">
              <a:spcBef>
                <a:spcPts val="0"/>
              </a:spcBef>
              <a:buNone/>
            </a:pPr>
            <a:r>
              <a:rPr lang="en-US" sz="1200" dirty="0"/>
              <a:t>[</a:t>
            </a:r>
            <a:r>
              <a:rPr lang="en-US" sz="1200" dirty="0" err="1"/>
              <a:t>Yongqing</a:t>
            </a:r>
            <a:r>
              <a:rPr lang="en-US" sz="1200" dirty="0"/>
              <a:t>] Maybe the information scope (i.e., which nodes should receive the notification), should be added here.</a:t>
            </a:r>
          </a:p>
        </p:txBody>
      </p:sp>
    </p:spTree>
    <p:extLst>
      <p:ext uri="{BB962C8B-B14F-4D97-AF65-F5344CB8AC3E}">
        <p14:creationId xmlns:p14="http://schemas.microsoft.com/office/powerpoint/2010/main" val="2500164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AD161-3044-4AE3-51DE-44AE13E3F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E04446-F2BA-C94B-150F-53794BF8A277}"/>
              </a:ext>
            </a:extLst>
          </p:cNvPr>
          <p:cNvSpPr>
            <a:spLocks noGrp="1"/>
          </p:cNvSpPr>
          <p:nvPr>
            <p:ph type="title"/>
          </p:nvPr>
        </p:nvSpPr>
        <p:spPr/>
        <p:txBody>
          <a:bodyPr/>
          <a:lstStyle/>
          <a:p>
            <a:r>
              <a:rPr lang="en-US" dirty="0"/>
              <a:t>FANN charter text discussion</a:t>
            </a:r>
            <a:br>
              <a:rPr lang="en-US" dirty="0"/>
            </a:br>
            <a:r>
              <a:rPr lang="en-US" b="1" dirty="0"/>
              <a:t>Open issues</a:t>
            </a:r>
            <a:endParaRPr lang="en-US" dirty="0"/>
          </a:p>
        </p:txBody>
      </p:sp>
      <p:sp>
        <p:nvSpPr>
          <p:cNvPr id="4" name="Slide Number Placeholder 3">
            <a:extLst>
              <a:ext uri="{FF2B5EF4-FFF2-40B4-BE49-F238E27FC236}">
                <a16:creationId xmlns:a16="http://schemas.microsoft.com/office/drawing/2014/main" id="{2C63AD6F-6209-70E9-AA74-FB50560FF34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17</a:t>
            </a:fld>
            <a:endParaRPr lang="en-US"/>
          </a:p>
        </p:txBody>
      </p:sp>
      <p:sp>
        <p:nvSpPr>
          <p:cNvPr id="6" name="Text Placeholder 5">
            <a:extLst>
              <a:ext uri="{FF2B5EF4-FFF2-40B4-BE49-F238E27FC236}">
                <a16:creationId xmlns:a16="http://schemas.microsoft.com/office/drawing/2014/main" id="{A9738FB6-F880-F9F5-67A9-E40BF01A415E}"/>
              </a:ext>
            </a:extLst>
          </p:cNvPr>
          <p:cNvSpPr>
            <a:spLocks noGrp="1"/>
          </p:cNvSpPr>
          <p:nvPr>
            <p:ph type="body" idx="1"/>
          </p:nvPr>
        </p:nvSpPr>
        <p:spPr>
          <a:xfrm>
            <a:off x="538800" y="1802552"/>
            <a:ext cx="8066400" cy="2710125"/>
          </a:xfrm>
        </p:spPr>
        <p:txBody>
          <a:bodyPr/>
          <a:lstStyle/>
          <a:p>
            <a:r>
              <a:rPr lang="en-US" sz="1600" dirty="0"/>
              <a:t>Comments from </a:t>
            </a:r>
            <a:r>
              <a:rPr lang="en-US" sz="1600" dirty="0" err="1"/>
              <a:t>Yongqing</a:t>
            </a:r>
            <a:r>
              <a:rPr lang="en-US" sz="1600" dirty="0"/>
              <a:t> Zhu (</a:t>
            </a:r>
            <a:r>
              <a:rPr lang="en-US" sz="1600" dirty="0">
                <a:hlinkClick r:id="rId2"/>
              </a:rPr>
              <a:t>issue #30</a:t>
            </a:r>
            <a:r>
              <a:rPr lang="en-US" sz="1600" dirty="0"/>
              <a:t>)</a:t>
            </a:r>
            <a:endParaRPr lang="en-US" sz="1200" dirty="0"/>
          </a:p>
          <a:p>
            <a:pPr marL="939800" lvl="1" indent="-342900">
              <a:spcBef>
                <a:spcPts val="0"/>
              </a:spcBef>
              <a:buSzPct val="100000"/>
              <a:buFont typeface="+mj-lt"/>
              <a:buAutoNum type="arabicPeriod" startAt="5"/>
            </a:pPr>
            <a:r>
              <a:rPr lang="en-US" sz="1200" dirty="0"/>
              <a:t># Work items / Define an Information Model of fast network notifications / Develop an Information Model that structures real-time network condition data in a standardized way for effective dissemination and actions / o Define the requirements of the data needed for functions/actions including but not limited to traffic engineering, load balancing, flow control and protection switching.</a:t>
            </a:r>
          </a:p>
          <a:p>
            <a:pPr marL="1054100" lvl="2" indent="0">
              <a:spcBef>
                <a:spcPts val="0"/>
              </a:spcBef>
              <a:buNone/>
            </a:pPr>
            <a:r>
              <a:rPr lang="en-US" sz="1200" dirty="0"/>
              <a:t>[</a:t>
            </a:r>
            <a:r>
              <a:rPr lang="en-US" sz="1200" dirty="0" err="1"/>
              <a:t>Yongqing</a:t>
            </a:r>
            <a:r>
              <a:rPr lang="en-US" sz="1200" dirty="0"/>
              <a:t>] Besides the following contents, we might need to define the abstraction about senders and receivers for information model.</a:t>
            </a:r>
          </a:p>
        </p:txBody>
      </p:sp>
    </p:spTree>
    <p:extLst>
      <p:ext uri="{BB962C8B-B14F-4D97-AF65-F5344CB8AC3E}">
        <p14:creationId xmlns:p14="http://schemas.microsoft.com/office/powerpoint/2010/main" val="945296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670B1-77A7-74E1-58C1-E1CCA0B45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28357-13A2-3385-7B4A-F61FECE650DE}"/>
              </a:ext>
            </a:extLst>
          </p:cNvPr>
          <p:cNvSpPr>
            <a:spLocks noGrp="1"/>
          </p:cNvSpPr>
          <p:nvPr>
            <p:ph type="title"/>
          </p:nvPr>
        </p:nvSpPr>
        <p:spPr/>
        <p:txBody>
          <a:bodyPr/>
          <a:lstStyle/>
          <a:p>
            <a:r>
              <a:rPr lang="en-US" dirty="0"/>
              <a:t>Next Steps</a:t>
            </a:r>
          </a:p>
        </p:txBody>
      </p:sp>
      <p:sp>
        <p:nvSpPr>
          <p:cNvPr id="4" name="Slide Number Placeholder 3">
            <a:extLst>
              <a:ext uri="{FF2B5EF4-FFF2-40B4-BE49-F238E27FC236}">
                <a16:creationId xmlns:a16="http://schemas.microsoft.com/office/drawing/2014/main" id="{87396253-4D54-02CB-0E91-E4EEADC85EB0}"/>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18</a:t>
            </a:fld>
            <a:endParaRPr lang="en-US"/>
          </a:p>
        </p:txBody>
      </p:sp>
      <p:sp>
        <p:nvSpPr>
          <p:cNvPr id="6" name="Text Placeholder 5">
            <a:extLst>
              <a:ext uri="{FF2B5EF4-FFF2-40B4-BE49-F238E27FC236}">
                <a16:creationId xmlns:a16="http://schemas.microsoft.com/office/drawing/2014/main" id="{D788F5EE-70AE-14BF-B311-98370FED5ABC}"/>
              </a:ext>
            </a:extLst>
          </p:cNvPr>
          <p:cNvSpPr>
            <a:spLocks noGrp="1"/>
          </p:cNvSpPr>
          <p:nvPr>
            <p:ph type="body" idx="1"/>
          </p:nvPr>
        </p:nvSpPr>
        <p:spPr/>
        <p:txBody>
          <a:bodyPr/>
          <a:lstStyle/>
          <a:p>
            <a:r>
              <a:rPr lang="en-US" sz="2400" dirty="0"/>
              <a:t>Update the charter based on comments</a:t>
            </a:r>
          </a:p>
          <a:p>
            <a:pPr lvl="1"/>
            <a:r>
              <a:rPr lang="en-US" sz="1800" dirty="0"/>
              <a:t>If you have additional comments, send it to the mailing list</a:t>
            </a:r>
          </a:p>
          <a:p>
            <a:pPr marL="114300" indent="0">
              <a:buNone/>
            </a:pPr>
            <a:endParaRPr lang="en-US" sz="2400" dirty="0"/>
          </a:p>
        </p:txBody>
      </p:sp>
    </p:spTree>
    <p:extLst>
      <p:ext uri="{BB962C8B-B14F-4D97-AF65-F5344CB8AC3E}">
        <p14:creationId xmlns:p14="http://schemas.microsoft.com/office/powerpoint/2010/main" val="215187763"/>
      </p:ext>
    </p:extLst>
  </p:cSld>
  <p:clrMapOvr>
    <a:masterClrMapping/>
  </p:clrMapOvr>
</p:sld>
</file>

<file path=ppt/theme/theme1.xml><?xml version="1.0" encoding="utf-8"?>
<a:theme xmlns:a="http://schemas.openxmlformats.org/drawingml/2006/main" name="Material">
  <a:themeElements>
    <a:clrScheme name="Material">
      <a:dk1>
        <a:srgbClr val="002D3C"/>
      </a:dk1>
      <a:lt1>
        <a:srgbClr val="4285F4"/>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aterial">
  <a:themeElements>
    <a:clrScheme name="Material">
      <a:dk1>
        <a:srgbClr val="000000"/>
      </a:dk1>
      <a:lt1>
        <a:srgbClr val="FFFFFF"/>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c8f49a32-fde3-48a5-9266-b5b0972a22dc}" enabled="1" method="Standard" siteId="{5ae1af62-9505-4097-a69a-c1553ef7840e}" contentBits="2" removed="0"/>
</clbl:labelList>
</file>

<file path=docProps/app.xml><?xml version="1.0" encoding="utf-8"?>
<Properties xmlns="http://schemas.openxmlformats.org/officeDocument/2006/extended-properties" xmlns:vt="http://schemas.openxmlformats.org/officeDocument/2006/docPropsVTypes">
  <TotalTime>131</TotalTime>
  <Words>2438</Words>
  <Application>Microsoft Macintosh PowerPoint</Application>
  <PresentationFormat>On-screen Show (16:9)</PresentationFormat>
  <Paragraphs>156</Paragraphs>
  <Slides>18</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18</vt:i4>
      </vt:variant>
    </vt:vector>
  </HeadingPairs>
  <TitlesOfParts>
    <vt:vector size="28" baseType="lpstr">
      <vt:lpstr>Open Sans</vt:lpstr>
      <vt:lpstr>Roboto</vt:lpstr>
      <vt:lpstr>Open Sans SemiBold</vt:lpstr>
      <vt:lpstr>Open Sans Medium</vt:lpstr>
      <vt:lpstr>Inter</vt:lpstr>
      <vt:lpstr>Arial</vt:lpstr>
      <vt:lpstr>Montserrat</vt:lpstr>
      <vt:lpstr>Aptos</vt:lpstr>
      <vt:lpstr>Material</vt:lpstr>
      <vt:lpstr>IETF Template</vt:lpstr>
      <vt:lpstr>IETF 125</vt:lpstr>
      <vt:lpstr>Note Well</vt:lpstr>
      <vt:lpstr>Agenda</vt:lpstr>
      <vt:lpstr>Proposed name and materials</vt:lpstr>
      <vt:lpstr>FANN charter text discussion Overview </vt:lpstr>
      <vt:lpstr>FANN charter text discussion Scope </vt:lpstr>
      <vt:lpstr>FANN charter text discussion Work Items </vt:lpstr>
      <vt:lpstr>FANN charter text discussion Collaborations </vt:lpstr>
      <vt:lpstr>FANN charter text discussion Expected Milestones </vt:lpstr>
      <vt:lpstr>FANN charter text discussion Acknowledgements</vt:lpstr>
      <vt:lpstr>FANN charter text discussion Open issues</vt:lpstr>
      <vt:lpstr>FANN charter text discussion Open issues</vt:lpstr>
      <vt:lpstr>FANN charter text discussion Open issues</vt:lpstr>
      <vt:lpstr>FANN charter text discussion Open issues</vt:lpstr>
      <vt:lpstr>FANN charter text discussion Open issues</vt:lpstr>
      <vt:lpstr>FANN charter text discussion Open issues</vt:lpstr>
      <vt:lpstr>FANN charter text discussion Open issues</vt:lpstr>
      <vt:lpstr>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Carlos J. Bernardos</cp:lastModifiedBy>
  <cp:revision>12</cp:revision>
  <dcterms:modified xsi:type="dcterms:W3CDTF">2026-03-16T08:20:38Z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Material:3\IETF Template:3</vt:lpwstr>
  </property>
  <property fmtid="{D5CDD505-2E9C-101B-9397-08002B2CF9AE}" pid="3" name="ClassificationContentMarkingFooterText">
    <vt:lpwstr>Cisco Confidential</vt:lpwstr>
  </property>
</Properties>
</file>