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4" r:id="rId1"/>
    <p:sldMasterId id="2147483665" r:id="rId2"/>
  </p:sldMasterIdLst>
  <p:notesMasterIdLst>
    <p:notesMasterId r:id="rId13"/>
  </p:notesMasterIdLst>
  <p:sldIdLst>
    <p:sldId id="256" r:id="rId3"/>
    <p:sldId id="257" r:id="rId4"/>
    <p:sldId id="258" r:id="rId5"/>
    <p:sldId id="259" r:id="rId6"/>
    <p:sldId id="260" r:id="rId7"/>
    <p:sldId id="261" r:id="rId8"/>
    <p:sldId id="262" r:id="rId9"/>
    <p:sldId id="263" r:id="rId10"/>
    <p:sldId id="265" r:id="rId11"/>
    <p:sldId id="264" r:id="rId12"/>
  </p:sldIdLst>
  <p:sldSz cx="9144000" cy="5143500" type="screen16x9"/>
  <p:notesSz cx="6858000" cy="9144000"/>
  <p:embeddedFontLst>
    <p:embeddedFont>
      <p:font typeface="Inter" panose="02000503000000020004" pitchFamily="2" charset="0"/>
      <p:regular r:id="rId14"/>
      <p:bold r:id="rId15"/>
      <p:italic r:id="rId16"/>
      <p:boldItalic r:id="rId17"/>
    </p:embeddedFont>
    <p:embeddedFont>
      <p:font typeface="Montserrat" pitchFamily="2" charset="77"/>
      <p:regular r:id="rId18"/>
      <p:bold r:id="rId19"/>
      <p:italic r:id="rId20"/>
      <p:boldItalic r:id="rId21"/>
    </p:embeddedFont>
    <p:embeddedFont>
      <p:font typeface="Open Sans" panose="020B0606030504020204" pitchFamily="34" charset="0"/>
      <p:regular r:id="rId22"/>
      <p:bold r:id="rId23"/>
      <p:italic r:id="rId24"/>
      <p:boldItalic r:id="rId25"/>
    </p:embeddedFont>
    <p:embeddedFont>
      <p:font typeface="Open Sans Medium" pitchFamily="2" charset="0"/>
      <p:regular r:id="rId26"/>
      <p:bold r:id="rId27"/>
      <p:italic r:id="rId28"/>
      <p:boldItalic r:id="rId29"/>
    </p:embeddedFont>
    <p:embeddedFont>
      <p:font typeface="Open Sans SemiBold" panose="020B0706030804020204" pitchFamily="34" charset="0"/>
      <p:regular r:id="rId30"/>
      <p:bold r:id="rId31"/>
      <p:italic r:id="rId32"/>
      <p:boldItalic r:id="rId33"/>
    </p:embeddedFont>
    <p:embeddedFont>
      <p:font typeface="Roboto" panose="02000000000000000000" pitchFamily="2" charset="0"/>
      <p:regular r:id="rId34"/>
      <p:bold r:id="rId35"/>
      <p:italic r:id="rId36"/>
      <p:boldItalic r:id="rId3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4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4D0445-0F65-5049-8A5A-3444589DB2CD}" v="2" dt="2026-03-12T14:39:48.65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39"/>
  </p:normalViewPr>
  <p:slideViewPr>
    <p:cSldViewPr snapToGrid="0">
      <p:cViewPr varScale="1">
        <p:scale>
          <a:sx n="181" d="100"/>
          <a:sy n="181" d="100"/>
        </p:scale>
        <p:origin x="184" y="328"/>
      </p:cViewPr>
      <p:guideLst>
        <p:guide orient="horz" pos="164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notesMaster" Target="notesMasters/notesMaster1.xml"/><Relationship Id="rId18" Type="http://schemas.openxmlformats.org/officeDocument/2006/relationships/font" Target="fonts/font5.fntdata"/><Relationship Id="rId26" Type="http://schemas.openxmlformats.org/officeDocument/2006/relationships/font" Target="fonts/font13.fntdata"/><Relationship Id="rId39" Type="http://schemas.openxmlformats.org/officeDocument/2006/relationships/viewProps" Target="viewProps.xml"/><Relationship Id="rId21" Type="http://schemas.openxmlformats.org/officeDocument/2006/relationships/font" Target="fonts/font8.fntdata"/><Relationship Id="rId34" Type="http://schemas.openxmlformats.org/officeDocument/2006/relationships/font" Target="fonts/font21.fntdata"/><Relationship Id="rId42" Type="http://schemas.microsoft.com/office/2015/10/relationships/revisionInfo" Target="revisionInfo.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font" Target="fonts/font3.fntdata"/><Relationship Id="rId20" Type="http://schemas.openxmlformats.org/officeDocument/2006/relationships/font" Target="fonts/font7.fntdata"/><Relationship Id="rId29" Type="http://schemas.openxmlformats.org/officeDocument/2006/relationships/font" Target="fonts/font16.fntdata"/><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font" Target="fonts/font11.fntdata"/><Relationship Id="rId32" Type="http://schemas.openxmlformats.org/officeDocument/2006/relationships/font" Target="fonts/font19.fntdata"/><Relationship Id="rId37" Type="http://schemas.openxmlformats.org/officeDocument/2006/relationships/font" Target="fonts/font24.fntdata"/><Relationship Id="rId40"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font" Target="fonts/font2.fntdata"/><Relationship Id="rId23" Type="http://schemas.openxmlformats.org/officeDocument/2006/relationships/font" Target="fonts/font10.fntdata"/><Relationship Id="rId28" Type="http://schemas.openxmlformats.org/officeDocument/2006/relationships/font" Target="fonts/font15.fntdata"/><Relationship Id="rId36" Type="http://schemas.openxmlformats.org/officeDocument/2006/relationships/font" Target="fonts/font23.fntdata"/><Relationship Id="rId10" Type="http://schemas.openxmlformats.org/officeDocument/2006/relationships/slide" Target="slides/slide8.xml"/><Relationship Id="rId19" Type="http://schemas.openxmlformats.org/officeDocument/2006/relationships/font" Target="fonts/font6.fntdata"/><Relationship Id="rId31" Type="http://schemas.openxmlformats.org/officeDocument/2006/relationships/font" Target="fonts/font18.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font" Target="fonts/font1.fntdata"/><Relationship Id="rId22" Type="http://schemas.openxmlformats.org/officeDocument/2006/relationships/font" Target="fonts/font9.fntdata"/><Relationship Id="rId27" Type="http://schemas.openxmlformats.org/officeDocument/2006/relationships/font" Target="fonts/font14.fntdata"/><Relationship Id="rId30" Type="http://schemas.openxmlformats.org/officeDocument/2006/relationships/font" Target="fonts/font17.fntdata"/><Relationship Id="rId35" Type="http://schemas.openxmlformats.org/officeDocument/2006/relationships/font" Target="fonts/font22.fntdata"/><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font" Target="fonts/font4.fntdata"/><Relationship Id="rId25" Type="http://schemas.openxmlformats.org/officeDocument/2006/relationships/font" Target="fonts/font12.fntdata"/><Relationship Id="rId33" Type="http://schemas.openxmlformats.org/officeDocument/2006/relationships/font" Target="fonts/font20.fntdata"/><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 name="Google Shape;4;n"/>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400" b="0" i="0" u="none" strike="noStrike" cap="none">
                <a:latin typeface="Arial"/>
                <a:ea typeface="Arial"/>
                <a:cs typeface="Arial"/>
                <a:sym typeface="Arial"/>
              </a:defRPr>
            </a:lvl1pPr>
            <a:lvl2pPr marL="914400" marR="0" lvl="1" indent="-228600" algn="l" rtl="0">
              <a:spcBef>
                <a:spcPts val="0"/>
              </a:spcBef>
              <a:spcAft>
                <a:spcPts val="0"/>
              </a:spcAft>
              <a:buSzPts val="1400"/>
              <a:buNone/>
              <a:defRPr sz="1400" b="0" i="0" u="none" strike="noStrike" cap="none">
                <a:latin typeface="Arial"/>
                <a:ea typeface="Arial"/>
                <a:cs typeface="Arial"/>
                <a:sym typeface="Arial"/>
              </a:defRPr>
            </a:lvl2pPr>
            <a:lvl3pPr marL="1371600" marR="0" lvl="2" indent="-228600" algn="l" rtl="0">
              <a:spcBef>
                <a:spcPts val="0"/>
              </a:spcBef>
              <a:spcAft>
                <a:spcPts val="0"/>
              </a:spcAft>
              <a:buSzPts val="1400"/>
              <a:buNone/>
              <a:defRPr sz="1400" b="0" i="0" u="none" strike="noStrike" cap="none">
                <a:latin typeface="Arial"/>
                <a:ea typeface="Arial"/>
                <a:cs typeface="Arial"/>
                <a:sym typeface="Arial"/>
              </a:defRPr>
            </a:lvl3pPr>
            <a:lvl4pPr marL="1828800" marR="0" lvl="3" indent="-228600" algn="l" rtl="0">
              <a:spcBef>
                <a:spcPts val="0"/>
              </a:spcBef>
              <a:spcAft>
                <a:spcPts val="0"/>
              </a:spcAft>
              <a:buSzPts val="1400"/>
              <a:buNone/>
              <a:defRPr sz="1400" b="0" i="0" u="none" strike="noStrike" cap="none">
                <a:latin typeface="Arial"/>
                <a:ea typeface="Arial"/>
                <a:cs typeface="Arial"/>
                <a:sym typeface="Arial"/>
              </a:defRPr>
            </a:lvl4pPr>
            <a:lvl5pPr marL="2286000" marR="0" lvl="4" indent="-228600" algn="l" rtl="0">
              <a:spcBef>
                <a:spcPts val="0"/>
              </a:spcBef>
              <a:spcAft>
                <a:spcPts val="0"/>
              </a:spcAft>
              <a:buSzPts val="1400"/>
              <a:buNone/>
              <a:defRPr sz="1400" b="0" i="0" u="none" strike="noStrike" cap="none">
                <a:latin typeface="Arial"/>
                <a:ea typeface="Arial"/>
                <a:cs typeface="Arial"/>
                <a:sym typeface="Arial"/>
              </a:defRPr>
            </a:lvl5pPr>
            <a:lvl6pPr marL="2743200" marR="0" lvl="5" indent="-228600" algn="l" rtl="0">
              <a:spcBef>
                <a:spcPts val="0"/>
              </a:spcBef>
              <a:spcAft>
                <a:spcPts val="0"/>
              </a:spcAft>
              <a:buSzPts val="1400"/>
              <a:buNone/>
              <a:defRPr sz="1400" b="0" i="0" u="none" strike="noStrike" cap="none">
                <a:latin typeface="Arial"/>
                <a:ea typeface="Arial"/>
                <a:cs typeface="Arial"/>
                <a:sym typeface="Arial"/>
              </a:defRPr>
            </a:lvl6pPr>
            <a:lvl7pPr marL="3200400" marR="0" lvl="6" indent="-228600" algn="l" rtl="0">
              <a:spcBef>
                <a:spcPts val="0"/>
              </a:spcBef>
              <a:spcAft>
                <a:spcPts val="0"/>
              </a:spcAft>
              <a:buSzPts val="1400"/>
              <a:buNone/>
              <a:defRPr sz="1400" b="0" i="0" u="none" strike="noStrike" cap="none">
                <a:latin typeface="Arial"/>
                <a:ea typeface="Arial"/>
                <a:cs typeface="Arial"/>
                <a:sym typeface="Arial"/>
              </a:defRPr>
            </a:lvl7pPr>
            <a:lvl8pPr marL="3657600" marR="0" lvl="7" indent="-228600" algn="l" rtl="0">
              <a:spcBef>
                <a:spcPts val="0"/>
              </a:spcBef>
              <a:spcAft>
                <a:spcPts val="0"/>
              </a:spcAft>
              <a:buSzPts val="1400"/>
              <a:buNone/>
              <a:defRPr sz="1400" b="0" i="0" u="none" strike="noStrike" cap="none">
                <a:latin typeface="Arial"/>
                <a:ea typeface="Arial"/>
                <a:cs typeface="Arial"/>
                <a:sym typeface="Arial"/>
              </a:defRPr>
            </a:lvl8pPr>
            <a:lvl9pPr marL="4114800" marR="0" lvl="8" indent="-228600" algn="l" rtl="0">
              <a:spcBef>
                <a:spcPts val="0"/>
              </a:spcBef>
              <a:spcAft>
                <a:spcPts val="0"/>
              </a:spcAft>
              <a:buSzPts val="1400"/>
              <a:buNone/>
              <a:defRPr sz="1400" b="0" i="0" u="none" strike="noStrike" cap="none">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datatracker.ietf.org/meeting/120/materials/slides-120-eodir-sessb-note-well-dos-and-donts"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7" name="Google Shape;97;p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7179d949db_7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5" name="Google Shape;105;g7179d949db_7_6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sz="1200">
                <a:solidFill>
                  <a:srgbClr val="424242"/>
                </a:solidFill>
                <a:highlight>
                  <a:srgbClr val="FFFFFF"/>
                </a:highlight>
                <a:latin typeface="Roboto"/>
                <a:ea typeface="Roboto"/>
                <a:cs typeface="Roboto"/>
                <a:sym typeface="Roboto"/>
              </a:rPr>
              <a:t>The IETF Note Well should be shown at the start of every IETF working session. The guidance below is </a:t>
            </a:r>
            <a:r>
              <a:rPr lang="en-US" sz="1200" u="sng">
                <a:solidFill>
                  <a:srgbClr val="1976D2"/>
                </a:solidFill>
                <a:latin typeface="Roboto"/>
                <a:ea typeface="Roboto"/>
                <a:cs typeface="Roboto"/>
                <a:sym typeface="Roboto"/>
                <a:hlinkClick r:id="rId3">
                  <a:extLst>
                    <a:ext uri="{A12FA001-AC4F-418D-AE19-62706E023703}">
                      <ahyp:hlinkClr xmlns:ahyp="http://schemas.microsoft.com/office/drawing/2018/hyperlinkcolor" val="tx"/>
                    </a:ext>
                  </a:extLst>
                </a:hlinkClick>
              </a:rPr>
              <a:t>adapted from IETF legal counsel presentation during IETF 120</a:t>
            </a: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None/>
            </a:pP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1B5E20"/>
                </a:solidFill>
                <a:highlight>
                  <a:srgbClr val="E8F5E9"/>
                </a:highlight>
                <a:latin typeface="Roboto"/>
                <a:ea typeface="Roboto"/>
                <a:cs typeface="Roboto"/>
                <a:sym typeface="Roboto"/>
              </a:rPr>
              <a:t>DO</a:t>
            </a:r>
            <a:endParaRPr sz="1200">
              <a:solidFill>
                <a:srgbClr val="1B5E20"/>
              </a:solidFill>
              <a:highlight>
                <a:srgbClr val="E8F5E9"/>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make sure people have enough time to read through the slide before you move on,</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give a high-level summary of what’s covered in the Note Well: “IETF policies on conduct, privacy and IPR.”,</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encourage people to read through all the linked policies &amp; documents in detail before participating or contributing,</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explain where people can direct questions or concerns (IETF Executive Director or Ombudsteam).</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B33F00"/>
                </a:solidFill>
                <a:highlight>
                  <a:srgbClr val="FFF3E0"/>
                </a:highlight>
                <a:latin typeface="Roboto"/>
                <a:ea typeface="Roboto"/>
                <a:cs typeface="Roboto"/>
                <a:sym typeface="Roboto"/>
              </a:rPr>
              <a:t>DON'T</a:t>
            </a:r>
            <a:endParaRPr sz="1200">
              <a:solidFill>
                <a:srgbClr val="B33F00"/>
              </a:solidFill>
              <a:highlight>
                <a:srgbClr val="FFF3E0"/>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dismiss the importance or relevance of any of the information on the Note Well.</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interpret the meaning or get into the substance of any of the topics or content of the policies.</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communicate that the Note Well conveys all the information participants need to know.</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address questions or concerns in the meeting itself.</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endParaRPr sz="1200">
              <a:solidFill>
                <a:srgbClr val="424242"/>
              </a:solidFill>
              <a:latin typeface="Roboto"/>
              <a:ea typeface="Roboto"/>
              <a:cs typeface="Roboto"/>
              <a:sym typeface="Roboto"/>
            </a:endParaRPr>
          </a:p>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type="title">
  <p:cSld name="TITLE">
    <p:bg>
      <p:bgPr>
        <a:solidFill>
          <a:srgbClr val="002D3C"/>
        </a:soli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title"/>
          </p:nvPr>
        </p:nvSpPr>
        <p:spPr>
          <a:xfrm>
            <a:off x="754464" y="2104950"/>
            <a:ext cx="7635072" cy="933600"/>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4200"/>
              <a:buFont typeface="Inter"/>
              <a:buNone/>
              <a:defRPr sz="42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11" name="Google Shape;11;p2"/>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1pPr>
            <a:lvl2pPr marL="0" marR="0" lvl="1"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2pPr>
            <a:lvl3pPr marL="0" marR="0" lvl="2"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3pPr>
            <a:lvl4pPr marL="0" marR="0" lvl="3"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4pPr>
            <a:lvl5pPr marL="0" marR="0" lvl="4"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5pPr>
            <a:lvl6pPr marL="0" marR="0" lvl="5"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6pPr>
            <a:lvl7pPr marL="0" marR="0" lvl="6"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7pPr>
            <a:lvl8pPr marL="0" marR="0" lvl="7"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8pPr>
            <a:lvl9pPr marL="0" marR="0" lvl="8"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12" name="Google Shape;12;p2"/>
          <p:cNvSpPr/>
          <p:nvPr/>
        </p:nvSpPr>
        <p:spPr>
          <a:xfrm>
            <a:off x="-125" y="4147975"/>
            <a:ext cx="9144001" cy="995701"/>
          </a:xfrm>
          <a:prstGeom prst="rect">
            <a:avLst/>
          </a:prstGeom>
          <a:solidFill>
            <a:srgbClr val="FFFFFF"/>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pic>
        <p:nvPicPr>
          <p:cNvPr id="13" name="Google Shape;13;p2" descr="Shape 14"/>
          <p:cNvPicPr preferRelativeResize="0"/>
          <p:nvPr/>
        </p:nvPicPr>
        <p:blipFill rotWithShape="1">
          <a:blip r:embed="rId2">
            <a:alphaModFix/>
          </a:blip>
          <a:srcRect/>
          <a:stretch/>
        </p:blipFill>
        <p:spPr>
          <a:xfrm>
            <a:off x="7440438" y="4312261"/>
            <a:ext cx="1256176" cy="667126"/>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_HEADER" type="secHead">
  <p:cSld name="SECTION_HEADER">
    <p:bg>
      <p:bgPr>
        <a:solidFill>
          <a:srgbClr val="002D3C"/>
        </a:solidFill>
        <a:effectLst/>
      </p:bgPr>
    </p:bg>
    <p:spTree>
      <p:nvGrpSpPr>
        <p:cNvPr id="1" name="Shape 20"/>
        <p:cNvGrpSpPr/>
        <p:nvPr/>
      </p:nvGrpSpPr>
      <p:grpSpPr>
        <a:xfrm>
          <a:off x="0" y="0"/>
          <a:ext cx="0" cy="0"/>
          <a:chOff x="0" y="0"/>
          <a:chExt cx="0" cy="0"/>
        </a:xfrm>
      </p:grpSpPr>
      <p:sp>
        <p:nvSpPr>
          <p:cNvPr id="21" name="Google Shape;21;p4"/>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1pPr>
            <a:lvl2pPr marL="0" marR="0" lvl="1"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2pPr>
            <a:lvl3pPr marL="0" marR="0" lvl="2"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3pPr>
            <a:lvl4pPr marL="0" marR="0" lvl="3"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4pPr>
            <a:lvl5pPr marL="0" marR="0" lvl="4"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5pPr>
            <a:lvl6pPr marL="0" marR="0" lvl="5"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6pPr>
            <a:lvl7pPr marL="0" marR="0" lvl="6"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7pPr>
            <a:lvl8pPr marL="0" marR="0" lvl="7"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8pPr>
            <a:lvl9pPr marL="0" marR="0" lvl="8"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_AND_TWO_COLUMNS" type="twoColTx">
  <p:cSld name="TITLE_AND_TWO_COLUMNS">
    <p:bg>
      <p:bgPr>
        <a:solidFill>
          <a:srgbClr val="002D3C"/>
        </a:solidFill>
        <a:effectLst/>
      </p:bgPr>
    </p:bg>
    <p:spTree>
      <p:nvGrpSpPr>
        <p:cNvPr id="1" name="Shape 22"/>
        <p:cNvGrpSpPr/>
        <p:nvPr/>
      </p:nvGrpSpPr>
      <p:grpSpPr>
        <a:xfrm>
          <a:off x="0" y="0"/>
          <a:ext cx="0" cy="0"/>
          <a:chOff x="0" y="0"/>
          <a:chExt cx="0" cy="0"/>
        </a:xfrm>
      </p:grpSpPr>
      <p:sp>
        <p:nvSpPr>
          <p:cNvPr id="23" name="Google Shape;23;p5"/>
          <p:cNvSpPr/>
          <p:nvPr/>
        </p:nvSpPr>
        <p:spPr>
          <a:xfrm rot="10800000" flipH="1">
            <a:off x="0" y="1686000"/>
            <a:ext cx="9144000" cy="34575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24" name="Google Shape;24;p5"/>
          <p:cNvSpPr/>
          <p:nvPr/>
        </p:nvSpPr>
        <p:spPr>
          <a:xfrm>
            <a:off x="0" y="1685999"/>
            <a:ext cx="9144000" cy="108601"/>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25" name="Google Shape;25;p5"/>
          <p:cNvSpPr txBox="1">
            <a:spLocks noGrp="1"/>
          </p:cNvSpPr>
          <p:nvPr>
            <p:ph type="title"/>
          </p:nvPr>
        </p:nvSpPr>
        <p:spPr>
          <a:xfrm>
            <a:off x="471900" y="738725"/>
            <a:ext cx="8222100" cy="767701"/>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26" name="Google Shape;26;p5"/>
          <p:cNvSpPr txBox="1">
            <a:spLocks noGrp="1"/>
          </p:cNvSpPr>
          <p:nvPr>
            <p:ph type="body" idx="1"/>
          </p:nvPr>
        </p:nvSpPr>
        <p:spPr>
          <a:xfrm>
            <a:off x="471900" y="1919074"/>
            <a:ext cx="3999901" cy="2710201"/>
          </a:xfrm>
          <a:prstGeom prst="rect">
            <a:avLst/>
          </a:prstGeom>
          <a:noFill/>
          <a:ln>
            <a:noFill/>
          </a:ln>
        </p:spPr>
        <p:txBody>
          <a:bodyPr spcFirstLastPara="1" wrap="square" lIns="91400" tIns="91400" rIns="91400" bIns="91400" anchor="t" anchorCtr="0">
            <a:noAutofit/>
          </a:bodyPr>
          <a:lstStyle>
            <a:lvl1pPr marL="457200" marR="0" lvl="0"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1pPr>
            <a:lvl2pPr marL="914400" marR="0" lvl="1"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2pPr>
            <a:lvl3pPr marL="1371600" marR="0" lvl="2"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3pPr>
            <a:lvl4pPr marL="1828800" marR="0" lvl="3"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4pPr>
            <a:lvl5pPr marL="2286000" marR="0" lvl="4"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27" name="Google Shape;27;p5"/>
          <p:cNvSpPr txBox="1">
            <a:spLocks noGrp="1"/>
          </p:cNvSpPr>
          <p:nvPr>
            <p:ph type="body" idx="2"/>
          </p:nvPr>
        </p:nvSpPr>
        <p:spPr>
          <a:xfrm>
            <a:off x="4694249" y="1919074"/>
            <a:ext cx="3999901" cy="2710201"/>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1pPr>
            <a:lvl2pPr marL="914400" marR="0" lvl="1"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2pPr>
            <a:lvl3pPr marL="1371600" marR="0" lvl="2"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3pPr>
            <a:lvl4pPr marL="1828800" marR="0" lvl="3"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4pPr>
            <a:lvl5pPr marL="2286000" marR="0" lvl="4"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28" name="Google Shape;28;p5"/>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hin title" type="titleOnly">
  <p:cSld name="TITLE_ONLY">
    <p:bg>
      <p:bgPr>
        <a:solidFill>
          <a:srgbClr val="002D3C"/>
        </a:solidFill>
        <a:effectLst/>
      </p:bgPr>
    </p:bg>
    <p:spTree>
      <p:nvGrpSpPr>
        <p:cNvPr id="1" name="Shape 29"/>
        <p:cNvGrpSpPr/>
        <p:nvPr/>
      </p:nvGrpSpPr>
      <p:grpSpPr>
        <a:xfrm>
          <a:off x="0" y="0"/>
          <a:ext cx="0" cy="0"/>
          <a:chOff x="0" y="0"/>
          <a:chExt cx="0" cy="0"/>
        </a:xfrm>
      </p:grpSpPr>
      <p:sp>
        <p:nvSpPr>
          <p:cNvPr id="30" name="Google Shape;30;p6"/>
          <p:cNvSpPr/>
          <p:nvPr/>
        </p:nvSpPr>
        <p:spPr>
          <a:xfrm rot="10800000" flipH="1">
            <a:off x="0" y="770474"/>
            <a:ext cx="9144000" cy="43803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31" name="Google Shape;31;p6"/>
          <p:cNvSpPr txBox="1">
            <a:spLocks noGrp="1"/>
          </p:cNvSpPr>
          <p:nvPr>
            <p:ph type="title"/>
          </p:nvPr>
        </p:nvSpPr>
        <p:spPr>
          <a:xfrm>
            <a:off x="158699" y="61427"/>
            <a:ext cx="8826600" cy="602700"/>
          </a:xfrm>
          <a:prstGeom prst="rect">
            <a:avLst/>
          </a:prstGeom>
          <a:noFill/>
          <a:ln>
            <a:noFill/>
          </a:ln>
        </p:spPr>
        <p:txBody>
          <a:bodyPr spcFirstLastPara="1" wrap="square" lIns="91400" tIns="91400" rIns="91400" bIns="91400" anchor="ctr" anchorCtr="0">
            <a:noAutofit/>
          </a:bodyPr>
          <a:lstStyle>
            <a:lvl1pPr marR="0" lvl="0" algn="l" rtl="0">
              <a:lnSpc>
                <a:spcPct val="100000"/>
              </a:lnSpc>
              <a:spcBef>
                <a:spcPts val="0"/>
              </a:spcBef>
              <a:spcAft>
                <a:spcPts val="0"/>
              </a:spcAft>
              <a:buClr>
                <a:srgbClr val="FFFFFF"/>
              </a:buClr>
              <a:buSzPts val="2400"/>
              <a:buFont typeface="Inter"/>
              <a:buNone/>
              <a:defRPr sz="24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32" name="Google Shape;32;p6"/>
          <p:cNvSpPr txBox="1">
            <a:spLocks noGrp="1"/>
          </p:cNvSpPr>
          <p:nvPr>
            <p:ph type="body" idx="1"/>
          </p:nvPr>
        </p:nvSpPr>
        <p:spPr>
          <a:xfrm>
            <a:off x="460950" y="1001775"/>
            <a:ext cx="8222100" cy="3765300"/>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1pPr>
            <a:lvl2pPr marL="914400" marR="0" lvl="1"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2pPr>
            <a:lvl3pPr marL="1371600" marR="0" lvl="2"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3pPr>
            <a:lvl4pPr marL="1828800" marR="0" lvl="3"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4pPr>
            <a:lvl5pPr marL="2286000" marR="0" lvl="4"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33" name="Google Shape;33;p6"/>
          <p:cNvSpPr txBox="1">
            <a:spLocks noGrp="1"/>
          </p:cNvSpPr>
          <p:nvPr>
            <p:ph type="sldNum" idx="12"/>
          </p:nvPr>
        </p:nvSpPr>
        <p:spPr>
          <a:xfrm>
            <a:off x="8735428" y="4724798"/>
            <a:ext cx="336900" cy="335400"/>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matchingName="BLANK" type="blank">
  <p:cSld name="BLANK">
    <p:spTree>
      <p:nvGrpSpPr>
        <p:cNvPr id="1" name="Shape 34"/>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9"/>
          <p:cNvSpPr/>
          <p:nvPr/>
        </p:nvSpPr>
        <p:spPr>
          <a:xfrm rot="10800000" flipH="1">
            <a:off x="0" y="656300"/>
            <a:ext cx="9144000" cy="44784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9"/>
          <p:cNvSpPr/>
          <p:nvPr/>
        </p:nvSpPr>
        <p:spPr>
          <a:xfrm>
            <a:off x="0" y="65635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9"/>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1800"/>
              <a:buFont typeface="Open Sans"/>
              <a:buNone/>
              <a:defRPr sz="20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9pPr>
          </a:lstStyle>
          <a:p>
            <a:endParaRPr/>
          </a:p>
        </p:txBody>
      </p:sp>
      <p:sp>
        <p:nvSpPr>
          <p:cNvPr id="43" name="Google Shape;43;p9"/>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44" name="Google Shape;44;p9"/>
          <p:cNvPicPr preferRelativeResize="0"/>
          <p:nvPr/>
        </p:nvPicPr>
        <p:blipFill rotWithShape="1">
          <a:blip r:embed="rId2">
            <a:alphaModFix/>
          </a:blip>
          <a:srcRect/>
          <a:stretch/>
        </p:blipFill>
        <p:spPr>
          <a:xfrm>
            <a:off x="7922625" y="4520234"/>
            <a:ext cx="830437" cy="474506"/>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45"/>
        <p:cNvGrpSpPr/>
        <p:nvPr/>
      </p:nvGrpSpPr>
      <p:grpSpPr>
        <a:xfrm>
          <a:off x="0" y="0"/>
          <a:ext cx="0" cy="0"/>
          <a:chOff x="0" y="0"/>
          <a:chExt cx="0" cy="0"/>
        </a:xfrm>
      </p:grpSpPr>
      <p:sp>
        <p:nvSpPr>
          <p:cNvPr id="46" name="Google Shape;46;p10"/>
          <p:cNvSpPr txBox="1">
            <a:spLocks noGrp="1"/>
          </p:cNvSpPr>
          <p:nvPr>
            <p:ph type="ctrTitle"/>
          </p:nvPr>
        </p:nvSpPr>
        <p:spPr>
          <a:xfrm>
            <a:off x="390525" y="1819275"/>
            <a:ext cx="8222100" cy="9335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800"/>
              <a:buFont typeface="Open Sans"/>
              <a:buNone/>
              <a:defRPr sz="38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9pPr>
          </a:lstStyle>
          <a:p>
            <a:endParaRPr/>
          </a:p>
        </p:txBody>
      </p:sp>
      <p:sp>
        <p:nvSpPr>
          <p:cNvPr id="47" name="Google Shape;47;p10"/>
          <p:cNvSpPr txBox="1">
            <a:spLocks noGrp="1"/>
          </p:cNvSpPr>
          <p:nvPr>
            <p:ph type="subTitle" idx="1"/>
          </p:nvPr>
        </p:nvSpPr>
        <p:spPr>
          <a:xfrm>
            <a:off x="390525" y="2789130"/>
            <a:ext cx="8222100" cy="4329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1pPr>
            <a:lvl2pPr marR="0" lvl="1"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2pPr>
            <a:lvl3pPr marR="0" lvl="2"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3pPr>
            <a:lvl4pPr marR="0" lvl="3"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4pPr>
            <a:lvl5pPr marR="0" lvl="4"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5pPr>
            <a:lvl6pPr marR="0" lvl="5"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6pPr>
            <a:lvl7pPr marR="0" lvl="6"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7pPr>
            <a:lvl8pPr marR="0" lvl="7"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8pPr>
            <a:lvl9pPr marR="0" lvl="8"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9pPr>
          </a:lstStyle>
          <a:p>
            <a:endParaRPr/>
          </a:p>
        </p:txBody>
      </p:sp>
      <p:sp>
        <p:nvSpPr>
          <p:cNvPr id="48" name="Google Shape;48;p10"/>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49" name="Google Shape;49;p10"/>
          <p:cNvSpPr/>
          <p:nvPr/>
        </p:nvSpPr>
        <p:spPr>
          <a:xfrm>
            <a:off x="-125" y="4147975"/>
            <a:ext cx="9144000" cy="995625"/>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50" name="Google Shape;50;p10"/>
          <p:cNvPicPr preferRelativeResize="0"/>
          <p:nvPr/>
        </p:nvPicPr>
        <p:blipFill rotWithShape="1">
          <a:blip r:embed="rId2">
            <a:alphaModFix/>
          </a:blip>
          <a:srcRect/>
          <a:stretch/>
        </p:blipFill>
        <p:spPr>
          <a:xfrm>
            <a:off x="7655588" y="4312262"/>
            <a:ext cx="942131" cy="500344"/>
          </a:xfrm>
          <a:prstGeom prst="rect">
            <a:avLst/>
          </a:prstGeom>
          <a:noFill/>
          <a:ln>
            <a:noFill/>
          </a:ln>
        </p:spPr>
      </p:pic>
      <p:sp>
        <p:nvSpPr>
          <p:cNvPr id="51" name="Google Shape;51;p10"/>
          <p:cNvSpPr txBox="1"/>
          <p:nvPr/>
        </p:nvSpPr>
        <p:spPr>
          <a:xfrm>
            <a:off x="381005" y="4507324"/>
            <a:ext cx="2750400" cy="27697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rgbClr val="000000"/>
                </a:solidFill>
                <a:latin typeface="Montserrat"/>
                <a:ea typeface="Montserrat"/>
                <a:cs typeface="Montserrat"/>
                <a:sym typeface="Montserrat"/>
              </a:rPr>
              <a:t>Making the Internet work better</a:t>
            </a:r>
            <a:endParaRPr sz="1200" b="0" i="0" u="none" strike="noStrike" cap="none">
              <a:solidFill>
                <a:schemeClr val="lt2"/>
              </a:solidFill>
              <a:latin typeface="Montserrat"/>
              <a:ea typeface="Montserrat"/>
              <a:cs typeface="Montserrat"/>
              <a:sym typeface="Montserrat"/>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52"/>
        <p:cNvGrpSpPr/>
        <p:nvPr/>
      </p:nvGrpSpPr>
      <p:grpSpPr>
        <a:xfrm>
          <a:off x="0" y="0"/>
          <a:ext cx="0" cy="0"/>
          <a:chOff x="0" y="0"/>
          <a:chExt cx="0" cy="0"/>
        </a:xfrm>
      </p:grpSpPr>
      <p:sp>
        <p:nvSpPr>
          <p:cNvPr id="53" name="Google Shape;53;p11"/>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 name="Google Shape;54;p11"/>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 name="Google Shape;55;p11"/>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SemiBold"/>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56" name="Google Shape;56;p11"/>
          <p:cNvSpPr txBox="1">
            <a:spLocks noGrp="1"/>
          </p:cNvSpPr>
          <p:nvPr>
            <p:ph type="body" idx="1"/>
          </p:nvPr>
        </p:nvSpPr>
        <p:spPr>
          <a:xfrm>
            <a:off x="627500" y="1794600"/>
            <a:ext cx="8066400" cy="2710125"/>
          </a:xfrm>
          <a:prstGeom prst="rect">
            <a:avLst/>
          </a:prstGeom>
          <a:noFill/>
          <a:ln>
            <a:noFill/>
          </a:ln>
        </p:spPr>
        <p:txBody>
          <a:bodyPr spcFirstLastPara="1" wrap="square" lIns="91425" tIns="91425" rIns="91425" bIns="91425" anchor="t" anchorCtr="0">
            <a:noAutofit/>
          </a:bodyPr>
          <a:lstStyle>
            <a:lvl1pPr marL="457200" marR="0" lvl="0" indent="-342900" algn="l">
              <a:lnSpc>
                <a:spcPct val="115000"/>
              </a:lnSpc>
              <a:spcBef>
                <a:spcPts val="0"/>
              </a:spcBef>
              <a:spcAft>
                <a:spcPts val="0"/>
              </a:spcAft>
              <a:buClr>
                <a:srgbClr val="002D3C"/>
              </a:buClr>
              <a:buSzPts val="1800"/>
              <a:buFont typeface="Montserrat"/>
              <a:buChar char="●"/>
              <a:defRPr sz="1800" b="0" i="0" u="none" strike="noStrike" cap="none">
                <a:solidFill>
                  <a:srgbClr val="002D3C"/>
                </a:solidFill>
                <a:latin typeface="Montserrat"/>
                <a:ea typeface="Montserrat"/>
                <a:cs typeface="Montserrat"/>
                <a:sym typeface="Montserrat"/>
              </a:defRPr>
            </a:lvl1pPr>
            <a:lvl2pPr marL="914400" marR="0" lvl="1"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2pPr>
            <a:lvl3pPr marL="1371600" marR="0" lvl="2"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3pPr>
            <a:lvl4pPr marL="1828800" marR="0" lvl="3"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4pPr>
            <a:lvl5pPr marL="2286000" marR="0" lvl="4"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5pPr>
            <a:lvl6pPr marL="2743200" marR="0" lvl="5"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6pPr>
            <a:lvl7pPr marL="3200400" marR="0" lvl="6"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7pPr>
            <a:lvl8pPr marL="3657600" marR="0" lvl="7"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9pPr>
          </a:lstStyle>
          <a:p>
            <a:endParaRPr/>
          </a:p>
        </p:txBody>
      </p:sp>
      <p:sp>
        <p:nvSpPr>
          <p:cNvPr id="57" name="Google Shape;57;p11"/>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58" name="Google Shape;58;p11"/>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9"/>
        <p:cNvGrpSpPr/>
        <p:nvPr/>
      </p:nvGrpSpPr>
      <p:grpSpPr>
        <a:xfrm>
          <a:off x="0" y="0"/>
          <a:ext cx="0" cy="0"/>
          <a:chOff x="0" y="0"/>
          <a:chExt cx="0" cy="0"/>
        </a:xfrm>
      </p:grpSpPr>
      <p:sp>
        <p:nvSpPr>
          <p:cNvPr id="60" name="Google Shape;60;p12"/>
          <p:cNvSpPr txBox="1">
            <a:spLocks noGrp="1"/>
          </p:cNvSpPr>
          <p:nvPr>
            <p:ph type="title"/>
          </p:nvPr>
        </p:nvSpPr>
        <p:spPr>
          <a:xfrm>
            <a:off x="460950" y="2065350"/>
            <a:ext cx="8222100" cy="1012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4200"/>
              <a:buFont typeface="Open Sans"/>
              <a:buNone/>
              <a:defRPr sz="4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9pPr>
          </a:lstStyle>
          <a:p>
            <a:endParaRPr/>
          </a:p>
        </p:txBody>
      </p:sp>
      <p:sp>
        <p:nvSpPr>
          <p:cNvPr id="61" name="Google Shape;61;p12"/>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2"/>
        <p:cNvGrpSpPr/>
        <p:nvPr/>
      </p:nvGrpSpPr>
      <p:grpSpPr>
        <a:xfrm>
          <a:off x="0" y="0"/>
          <a:ext cx="0" cy="0"/>
          <a:chOff x="0" y="0"/>
          <a:chExt cx="0" cy="0"/>
        </a:xfrm>
      </p:grpSpPr>
      <p:sp>
        <p:nvSpPr>
          <p:cNvPr id="63" name="Google Shape;63;p13"/>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4" name="Google Shape;64;p13"/>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5" name="Google Shape;65;p13"/>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66" name="Google Shape;66;p13"/>
          <p:cNvSpPr txBox="1">
            <a:spLocks noGrp="1"/>
          </p:cNvSpPr>
          <p:nvPr>
            <p:ph type="body" idx="1"/>
          </p:nvPr>
        </p:nvSpPr>
        <p:spPr>
          <a:xfrm>
            <a:off x="47190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67" name="Google Shape;67;p13"/>
          <p:cNvSpPr txBox="1">
            <a:spLocks noGrp="1"/>
          </p:cNvSpPr>
          <p:nvPr>
            <p:ph type="body" idx="2"/>
          </p:nvPr>
        </p:nvSpPr>
        <p:spPr>
          <a:xfrm>
            <a:off x="469425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68" name="Google Shape;68;p13"/>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pic>
        <p:nvPicPr>
          <p:cNvPr id="69" name="Google Shape;69;p13"/>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0"/>
        <p:cNvGrpSpPr/>
        <p:nvPr/>
      </p:nvGrpSpPr>
      <p:grpSpPr>
        <a:xfrm>
          <a:off x="0" y="0"/>
          <a:ext cx="0" cy="0"/>
          <a:chOff x="0" y="0"/>
          <a:chExt cx="0" cy="0"/>
        </a:xfrm>
      </p:grpSpPr>
      <p:sp>
        <p:nvSpPr>
          <p:cNvPr id="71" name="Google Shape;71;p14"/>
          <p:cNvSpPr txBox="1"/>
          <p:nvPr/>
        </p:nvSpPr>
        <p:spPr>
          <a:xfrm rot="10800000" flipH="1">
            <a:off x="3276600" y="25"/>
            <a:ext cx="58674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2" name="Google Shape;72;p14"/>
          <p:cNvSpPr/>
          <p:nvPr/>
        </p:nvSpPr>
        <p:spPr>
          <a:xfrm rot="-5400000">
            <a:off x="759150" y="2517450"/>
            <a:ext cx="51435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3" name="Google Shape;73;p14"/>
          <p:cNvSpPr txBox="1">
            <a:spLocks noGrp="1"/>
          </p:cNvSpPr>
          <p:nvPr>
            <p:ph type="title"/>
          </p:nvPr>
        </p:nvSpPr>
        <p:spPr>
          <a:xfrm>
            <a:off x="226078" y="357800"/>
            <a:ext cx="2808000" cy="9533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2400"/>
              <a:buFont typeface="Arial"/>
              <a:buNone/>
              <a:defRPr sz="2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9pPr>
          </a:lstStyle>
          <a:p>
            <a:endParaRPr/>
          </a:p>
        </p:txBody>
      </p:sp>
      <p:sp>
        <p:nvSpPr>
          <p:cNvPr id="74" name="Google Shape;74;p14"/>
          <p:cNvSpPr txBox="1">
            <a:spLocks noGrp="1"/>
          </p:cNvSpPr>
          <p:nvPr>
            <p:ph type="body" idx="1"/>
          </p:nvPr>
        </p:nvSpPr>
        <p:spPr>
          <a:xfrm>
            <a:off x="226075" y="1465800"/>
            <a:ext cx="2808000" cy="3163500"/>
          </a:xfrm>
          <a:prstGeom prst="rect">
            <a:avLst/>
          </a:prstGeom>
          <a:noFill/>
          <a:ln>
            <a:noFill/>
          </a:ln>
        </p:spPr>
        <p:txBody>
          <a:bodyPr spcFirstLastPara="1" wrap="square" lIns="91425" tIns="91425" rIns="91425" bIns="91425" anchor="t" anchorCtr="0">
            <a:noAutofit/>
          </a:bodyPr>
          <a:lstStyle>
            <a:lvl1pPr marL="457200" marR="0" lvl="0" indent="-304800" algn="l">
              <a:lnSpc>
                <a:spcPct val="115000"/>
              </a:lnSpc>
              <a:spcBef>
                <a:spcPts val="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9pPr>
          </a:lstStyle>
          <a:p>
            <a:endParaRPr/>
          </a:p>
        </p:txBody>
      </p:sp>
      <p:sp>
        <p:nvSpPr>
          <p:cNvPr id="75" name="Google Shape;75;p14"/>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6"/>
        <p:cNvGrpSpPr/>
        <p:nvPr/>
      </p:nvGrpSpPr>
      <p:grpSpPr>
        <a:xfrm>
          <a:off x="0" y="0"/>
          <a:ext cx="0" cy="0"/>
          <a:chOff x="0" y="0"/>
          <a:chExt cx="0" cy="0"/>
        </a:xfrm>
      </p:grpSpPr>
      <p:sp>
        <p:nvSpPr>
          <p:cNvPr id="77" name="Google Shape;77;p15"/>
          <p:cNvSpPr txBox="1">
            <a:spLocks noGrp="1"/>
          </p:cNvSpPr>
          <p:nvPr>
            <p:ph type="title"/>
          </p:nvPr>
        </p:nvSpPr>
        <p:spPr>
          <a:xfrm>
            <a:off x="490250" y="488250"/>
            <a:ext cx="6227100" cy="4090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5200"/>
              <a:buFont typeface="Open Sans"/>
              <a:buNone/>
              <a:defRPr sz="5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9pPr>
          </a:lstStyle>
          <a:p>
            <a:endParaRPr/>
          </a:p>
        </p:txBody>
      </p:sp>
      <p:sp>
        <p:nvSpPr>
          <p:cNvPr id="78" name="Google Shape;78;p15"/>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9"/>
        <p:cNvGrpSpPr/>
        <p:nvPr/>
      </p:nvGrpSpPr>
      <p:grpSpPr>
        <a:xfrm>
          <a:off x="0" y="0"/>
          <a:ext cx="0" cy="0"/>
          <a:chOff x="0" y="0"/>
          <a:chExt cx="0" cy="0"/>
        </a:xfrm>
      </p:grpSpPr>
      <p:sp>
        <p:nvSpPr>
          <p:cNvPr id="80" name="Google Shape;80;p16"/>
          <p:cNvSpPr/>
          <p:nvPr/>
        </p:nvSpPr>
        <p:spPr>
          <a:xfrm flipH="1">
            <a:off x="0" y="0"/>
            <a:ext cx="45720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16"/>
          <p:cNvSpPr/>
          <p:nvPr/>
        </p:nvSpPr>
        <p:spPr>
          <a:xfrm rot="5400000">
            <a:off x="1946462" y="2517713"/>
            <a:ext cx="5142825"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4200"/>
              <a:buFont typeface="Arial"/>
              <a:buNone/>
              <a:defRPr sz="4200" b="0" i="0" u="none" strike="noStrike" cap="none">
                <a:solidFill>
                  <a:schemeClr val="dk2"/>
                </a:solidFill>
                <a:latin typeface="Arial"/>
                <a:ea typeface="Arial"/>
                <a:cs typeface="Arial"/>
                <a:sym typeface="Arial"/>
              </a:defRPr>
            </a:lvl1pPr>
            <a:lvl2pPr marR="0" lvl="1"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9pPr>
          </a:lstStyle>
          <a:p>
            <a:endParaRPr/>
          </a:p>
        </p:txBody>
      </p:sp>
      <p:sp>
        <p:nvSpPr>
          <p:cNvPr id="83" name="Google Shape;83;p16"/>
          <p:cNvSpPr txBox="1">
            <a:spLocks noGrp="1"/>
          </p:cNvSpPr>
          <p:nvPr>
            <p:ph type="subTitle" idx="1"/>
          </p:nvPr>
        </p:nvSpPr>
        <p:spPr>
          <a:xfrm>
            <a:off x="265500" y="2779467"/>
            <a:ext cx="4045200" cy="1235025"/>
          </a:xfrm>
          <a:prstGeom prst="rect">
            <a:avLst/>
          </a:prstGeom>
          <a:noFill/>
          <a:ln>
            <a:noFill/>
          </a:ln>
        </p:spPr>
        <p:txBody>
          <a:bodyPr spcFirstLastPara="1" wrap="square" lIns="91425" tIns="91425" rIns="91425" bIns="91425" anchor="t" anchorCtr="0">
            <a:noAutofit/>
          </a:bodyPr>
          <a:lstStyle>
            <a:lvl1pPr marR="0" lvl="0"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1pPr>
            <a:lvl2pPr marR="0" lvl="1"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2pPr>
            <a:lvl3pPr marR="0" lvl="2"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3pPr>
            <a:lvl4pPr marR="0" lvl="3"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4pPr>
            <a:lvl5pPr marR="0" lvl="4"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5pPr>
            <a:lvl6pPr marR="0" lvl="5"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6pPr>
            <a:lvl7pPr marR="0" lvl="6"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7pPr>
            <a:lvl8pPr marR="0" lvl="7"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8pPr>
            <a:lvl9pPr marR="0" lvl="8"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9pPr>
          </a:lstStyle>
          <a:p>
            <a:endParaRPr/>
          </a:p>
        </p:txBody>
      </p:sp>
      <p:sp>
        <p:nvSpPr>
          <p:cNvPr id="84" name="Google Shape;84;p16"/>
          <p:cNvSpPr txBox="1">
            <a:spLocks noGrp="1"/>
          </p:cNvSpPr>
          <p:nvPr>
            <p:ph type="body" idx="2"/>
          </p:nvPr>
        </p:nvSpPr>
        <p:spPr>
          <a:xfrm>
            <a:off x="4939500" y="724200"/>
            <a:ext cx="3837000" cy="3695175"/>
          </a:xfrm>
          <a:prstGeom prst="rect">
            <a:avLst/>
          </a:prstGeom>
          <a:noFill/>
          <a:ln>
            <a:noFill/>
          </a:ln>
        </p:spPr>
        <p:txBody>
          <a:bodyPr spcFirstLastPara="1" wrap="square" lIns="91425" tIns="91425" rIns="91425" bIns="91425" anchor="ctr" anchorCtr="0">
            <a:noAutofit/>
          </a:bodyPr>
          <a:lstStyle>
            <a:lvl1pPr marL="457200" marR="0" lvl="0" indent="-342900" algn="l">
              <a:lnSpc>
                <a:spcPct val="115000"/>
              </a:lnSpc>
              <a:spcBef>
                <a:spcPts val="0"/>
              </a:spcBef>
              <a:spcAft>
                <a:spcPts val="0"/>
              </a:spcAft>
              <a:buClr>
                <a:schemeClr val="lt1"/>
              </a:buClr>
              <a:buSzPts val="1800"/>
              <a:buFont typeface="Montserrat"/>
              <a:buChar char="●"/>
              <a:defRPr sz="1800" b="0" i="0" u="none" strike="noStrike" cap="none">
                <a:solidFill>
                  <a:schemeClr val="lt1"/>
                </a:solidFill>
                <a:latin typeface="Montserrat"/>
                <a:ea typeface="Montserrat"/>
                <a:cs typeface="Montserrat"/>
                <a:sym typeface="Montserrat"/>
              </a:defRPr>
            </a:lvl1pPr>
            <a:lvl2pPr marL="914400" marR="0" lvl="1"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2pPr>
            <a:lvl3pPr marL="1371600" marR="0" lvl="2"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3pPr>
            <a:lvl4pPr marL="1828800" marR="0" lvl="3"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4pPr>
            <a:lvl5pPr marL="2286000" marR="0" lvl="4"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5pPr>
            <a:lvl6pPr marL="2743200" marR="0" lvl="5"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6pPr>
            <a:lvl7pPr marL="3200400" marR="0" lvl="6"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7pPr>
            <a:lvl8pPr marL="3657600" marR="0" lvl="7"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9pPr>
          </a:lstStyle>
          <a:p>
            <a:endParaRPr/>
          </a:p>
        </p:txBody>
      </p:sp>
      <p:sp>
        <p:nvSpPr>
          <p:cNvPr id="85" name="Google Shape;85;p16"/>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6"/>
        <p:cNvGrpSpPr/>
        <p:nvPr/>
      </p:nvGrpSpPr>
      <p:grpSpPr>
        <a:xfrm>
          <a:off x="0" y="0"/>
          <a:ext cx="0" cy="0"/>
          <a:chOff x="0" y="0"/>
          <a:chExt cx="0" cy="0"/>
        </a:xfrm>
      </p:grpSpPr>
      <p:sp>
        <p:nvSpPr>
          <p:cNvPr id="87" name="Google Shape;87;p17"/>
          <p:cNvSpPr txBox="1"/>
          <p:nvPr/>
        </p:nvSpPr>
        <p:spPr>
          <a:xfrm rot="10800000" flipH="1">
            <a:off x="0" y="-75"/>
            <a:ext cx="9144000" cy="46959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 name="Google Shape;88;p17"/>
          <p:cNvSpPr/>
          <p:nvPr/>
        </p:nvSpPr>
        <p:spPr>
          <a:xfrm rot="10800000" flipH="1">
            <a:off x="0" y="4622800"/>
            <a:ext cx="9144000" cy="7402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17"/>
          <p:cNvSpPr txBox="1">
            <a:spLocks noGrp="1"/>
          </p:cNvSpPr>
          <p:nvPr>
            <p:ph type="body" idx="1"/>
          </p:nvPr>
        </p:nvSpPr>
        <p:spPr>
          <a:xfrm>
            <a:off x="57150" y="4696825"/>
            <a:ext cx="8382000" cy="446625"/>
          </a:xfrm>
          <a:prstGeom prst="rect">
            <a:avLst/>
          </a:prstGeom>
          <a:noFill/>
          <a:ln>
            <a:noFill/>
          </a:ln>
        </p:spPr>
        <p:txBody>
          <a:bodyPr spcFirstLastPara="1" wrap="square" lIns="91425" tIns="91425" rIns="91425" bIns="91425" anchor="ctr" anchorCtr="0">
            <a:noAutofit/>
          </a:bodyPr>
          <a:lstStyle>
            <a:lvl1pPr marL="457200" marR="0" lvl="0" indent="-228600" algn="l">
              <a:lnSpc>
                <a:spcPct val="100000"/>
              </a:lnSpc>
              <a:spcBef>
                <a:spcPts val="0"/>
              </a:spcBef>
              <a:spcAft>
                <a:spcPts val="0"/>
              </a:spcAft>
              <a:buClr>
                <a:schemeClr val="lt1"/>
              </a:buClr>
              <a:buSzPts val="1200"/>
              <a:buFont typeface="Montserrat"/>
              <a:buNone/>
              <a:defRPr sz="1200" b="0" i="0" u="none" strike="noStrike" cap="none">
                <a:solidFill>
                  <a:schemeClr val="lt1"/>
                </a:solidFill>
                <a:latin typeface="Montserrat"/>
                <a:ea typeface="Montserrat"/>
                <a:cs typeface="Montserrat"/>
                <a:sym typeface="Montserrat"/>
              </a:defRPr>
            </a:lvl1pPr>
          </a:lstStyle>
          <a:p>
            <a:endParaRPr/>
          </a:p>
        </p:txBody>
      </p:sp>
      <p:sp>
        <p:nvSpPr>
          <p:cNvPr id="90" name="Google Shape;90;p17"/>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accent4"/>
        </a:solidFill>
        <a:effectLst/>
      </p:bgPr>
    </p:bg>
    <p:spTree>
      <p:nvGrpSpPr>
        <p:cNvPr id="1" name="Shape 91"/>
        <p:cNvGrpSpPr/>
        <p:nvPr/>
      </p:nvGrpSpPr>
      <p:grpSpPr>
        <a:xfrm>
          <a:off x="0" y="0"/>
          <a:ext cx="0" cy="0"/>
          <a:chOff x="0" y="0"/>
          <a:chExt cx="0" cy="0"/>
        </a:xfrm>
      </p:grpSpPr>
      <p:sp>
        <p:nvSpPr>
          <p:cNvPr id="92" name="Google Shape;92;p18"/>
          <p:cNvSpPr txBox="1">
            <a:spLocks noGrp="1"/>
          </p:cNvSpPr>
          <p:nvPr>
            <p:ph type="title" hasCustomPrompt="1"/>
          </p:nvPr>
        </p:nvSpPr>
        <p:spPr>
          <a:xfrm>
            <a:off x="475500" y="1258525"/>
            <a:ext cx="8222100" cy="1963575"/>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12000"/>
              <a:buFont typeface="Arial"/>
              <a:buNone/>
              <a:defRPr sz="12000" b="0" i="0" u="none" strike="noStrike" cap="none">
                <a:solidFill>
                  <a:schemeClr val="dk2"/>
                </a:solidFill>
                <a:latin typeface="Open Sans"/>
                <a:ea typeface="Open Sans"/>
                <a:cs typeface="Open Sans"/>
                <a:sym typeface="Open Sans"/>
              </a:defRPr>
            </a:lvl1pPr>
            <a:lvl2pPr marR="0" lvl="1"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9pPr>
          </a:lstStyle>
          <a:p>
            <a:r>
              <a:t>xx%</a:t>
            </a:r>
          </a:p>
        </p:txBody>
      </p:sp>
      <p:sp>
        <p:nvSpPr>
          <p:cNvPr id="93" name="Google Shape;93;p18"/>
          <p:cNvSpPr txBox="1">
            <a:spLocks noGrp="1"/>
          </p:cNvSpPr>
          <p:nvPr>
            <p:ph type="body" idx="1"/>
          </p:nvPr>
        </p:nvSpPr>
        <p:spPr>
          <a:xfrm>
            <a:off x="475500" y="3304625"/>
            <a:ext cx="8222100" cy="1300725"/>
          </a:xfrm>
          <a:prstGeom prst="rect">
            <a:avLst/>
          </a:prstGeom>
          <a:noFill/>
          <a:ln>
            <a:noFill/>
          </a:ln>
        </p:spPr>
        <p:txBody>
          <a:bodyPr spcFirstLastPara="1" wrap="square" lIns="91425" tIns="91425" rIns="91425" bIns="91425" anchor="t" anchorCtr="0">
            <a:noAutofit/>
          </a:bodyPr>
          <a:lstStyle>
            <a:lvl1pPr marL="457200" marR="0" lvl="0" indent="-342900" algn="ctr">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ctr">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94" name="Google Shape;94;p1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3.xml"/><Relationship Id="rId3" Type="http://schemas.openxmlformats.org/officeDocument/2006/relationships/slideLayout" Target="../slideLayouts/slideLayout8.xml"/><Relationship Id="rId7" Type="http://schemas.openxmlformats.org/officeDocument/2006/relationships/slideLayout" Target="../slideLayouts/slideLayout12.xml"/><Relationship Id="rId2" Type="http://schemas.openxmlformats.org/officeDocument/2006/relationships/slideLayout" Target="../slideLayouts/slideLayout7.xml"/><Relationship Id="rId1" Type="http://schemas.openxmlformats.org/officeDocument/2006/relationships/slideLayout" Target="../slideLayouts/slideLayout6.xml"/><Relationship Id="rId6" Type="http://schemas.openxmlformats.org/officeDocument/2006/relationships/slideLayout" Target="../slideLayouts/slideLayout11.xml"/><Relationship Id="rId11" Type="http://schemas.openxmlformats.org/officeDocument/2006/relationships/theme" Target="../theme/theme2.xml"/><Relationship Id="rId5" Type="http://schemas.openxmlformats.org/officeDocument/2006/relationships/slideLayout" Target="../slideLayouts/slideLayout10.xml"/><Relationship Id="rId10" Type="http://schemas.openxmlformats.org/officeDocument/2006/relationships/slideLayout" Target="../slideLayouts/slideLayout15.xml"/><Relationship Id="rId4" Type="http://schemas.openxmlformats.org/officeDocument/2006/relationships/slideLayout" Target="../slideLayouts/slideLayout9.xml"/><Relationship Id="rId9"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1pPr>
            <a:lvl2pPr marL="0" marR="0" lvl="1"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2pPr>
            <a:lvl3pPr marL="0" marR="0" lvl="2"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3pPr>
            <a:lvl4pPr marL="0" marR="0" lvl="3"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4pPr>
            <a:lvl5pPr marL="0" marR="0" lvl="4"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5pPr>
            <a:lvl6pPr marL="0" marR="0" lvl="5"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6pPr>
            <a:lvl7pPr marL="0" marR="0" lvl="6"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7pPr>
            <a:lvl8pPr marL="0" marR="0" lvl="7"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8pPr>
            <a:lvl9pPr marL="0" marR="0" lvl="8"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US"/>
              <a:t>‹#›</a:t>
            </a:fld>
            <a:endParaRPr/>
          </a:p>
        </p:txBody>
      </p:sp>
      <p:sp>
        <p:nvSpPr>
          <p:cNvPr id="7" name="Google Shape;7;p1"/>
          <p:cNvSpPr txBox="1">
            <a:spLocks noGrp="1"/>
          </p:cNvSpPr>
          <p:nvPr>
            <p:ph type="title"/>
          </p:nvPr>
        </p:nvSpPr>
        <p:spPr>
          <a:xfrm>
            <a:off x="457200" y="0"/>
            <a:ext cx="8229600" cy="1063229"/>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1pPr>
            <a:lvl2pPr marR="0" lvl="1"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2pPr>
            <a:lvl3pPr marR="0" lvl="2"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3pPr>
            <a:lvl4pPr marR="0" lvl="3"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4pPr>
            <a:lvl5pPr marR="0" lvl="4"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5pPr>
            <a:lvl6pPr marR="0" lvl="5"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6pPr>
            <a:lvl7pPr marR="0" lvl="6"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7pPr>
            <a:lvl8pPr marR="0" lvl="7"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8pPr>
            <a:lvl9pPr marR="0" lvl="8"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9pPr>
          </a:lstStyle>
          <a:p>
            <a:endParaRPr/>
          </a:p>
        </p:txBody>
      </p:sp>
      <p:sp>
        <p:nvSpPr>
          <p:cNvPr id="8" name="Google Shape;8;p1"/>
          <p:cNvSpPr txBox="1">
            <a:spLocks noGrp="1"/>
          </p:cNvSpPr>
          <p:nvPr>
            <p:ph type="body" idx="1"/>
          </p:nvPr>
        </p:nvSpPr>
        <p:spPr>
          <a:xfrm>
            <a:off x="457200" y="1200150"/>
            <a:ext cx="8229600" cy="3943350"/>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1pPr>
            <a:lvl2pPr marL="914400" marR="0" lvl="1"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2pPr>
            <a:lvl3pPr marL="1371600" marR="0" lvl="2"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3pPr>
            <a:lvl4pPr marL="1828800" marR="0" lvl="3"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4pPr>
            <a:lvl5pPr marL="2286000" marR="0" lvl="4"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5pPr>
            <a:lvl6pPr marL="2743200" marR="0" lvl="5"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6pPr>
            <a:lvl7pPr marL="3200400" marR="0" lvl="6"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7pPr>
            <a:lvl8pPr marL="3657600" marR="0" lvl="7"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8pPr>
            <a:lvl9pPr marL="4114800" marR="0" lvl="8"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9pPr>
          </a:lstStyle>
          <a:p>
            <a:endParaRPr/>
          </a:p>
        </p:txBody>
      </p:sp>
      <p:sp>
        <p:nvSpPr>
          <p:cNvPr id="3" name="TextBox 2">
            <a:extLst>
              <a:ext uri="{FF2B5EF4-FFF2-40B4-BE49-F238E27FC236}">
                <a16:creationId xmlns:a16="http://schemas.microsoft.com/office/drawing/2014/main" id="{E1FF4C36-A3EF-DA36-10C9-FFF4C5D21658}"/>
              </a:ext>
            </a:extLst>
          </p:cNvPr>
          <p:cNvSpPr txBox="1"/>
          <p:nvPr userDrawn="1">
            <p:extLst>
              <p:ext uri="{1162E1C5-73C7-4A58-AE30-91384D911F3F}">
                <p184:classification xmlns:p184="http://schemas.microsoft.com/office/powerpoint/2018/4/main" val="ftr"/>
              </p:ext>
            </p:extLst>
          </p:nvPr>
        </p:nvSpPr>
        <p:spPr>
          <a:xfrm>
            <a:off x="8267700" y="4958080"/>
            <a:ext cx="833438" cy="121920"/>
          </a:xfrm>
          <a:prstGeom prst="rect">
            <a:avLst/>
          </a:prstGeom>
        </p:spPr>
        <p:txBody>
          <a:bodyPr horzOverflow="overflow" lIns="0" tIns="0" rIns="0" bIns="0">
            <a:spAutoFit/>
          </a:bodyPr>
          <a:lstStyle/>
          <a:p>
            <a:pPr algn="l"/>
            <a:r>
              <a:rPr lang="en-US" sz="800">
                <a:solidFill>
                  <a:srgbClr val="000000">
                    <a:alpha val="50000"/>
                  </a:srgbClr>
                </a:solidFill>
                <a:latin typeface="Aptos" panose="020B0004020202020204" pitchFamily="34" charset="0"/>
              </a:rPr>
              <a:t>Cisco Confidential</a:t>
            </a:r>
          </a:p>
        </p:txBody>
      </p:sp>
    </p:spTree>
  </p:cSld>
  <p:clrMap bg1="lt1" tx1="dk1" bg2="dk2" tx2="lt2" accent1="accent1" accent2="accent2" accent3="accent3" accent4="accent4" accent5="accent5" accent6="accent6" hlink="hlink" folHlink="folHlink"/>
  <p:sldLayoutIdLst>
    <p:sldLayoutId id="2147483648" r:id="rId1"/>
    <p:sldLayoutId id="2147483650" r:id="rId2"/>
    <p:sldLayoutId id="2147483651" r:id="rId3"/>
    <p:sldLayoutId id="2147483652" r:id="rId4"/>
    <p:sldLayoutId id="2147483653" r:id="rId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terial">
    <p:bg>
      <p:bgPr>
        <a:solidFill>
          <a:srgbClr val="002D3C"/>
        </a:solidFill>
        <a:effectLst/>
      </p:bgPr>
    </p:bg>
    <p:spTree>
      <p:nvGrpSpPr>
        <p:cNvPr id="1" name="Shape 35"/>
        <p:cNvGrpSpPr/>
        <p:nvPr/>
      </p:nvGrpSpPr>
      <p:grpSpPr>
        <a:xfrm>
          <a:off x="0" y="0"/>
          <a:ext cx="0" cy="0"/>
          <a:chOff x="0" y="0"/>
          <a:chExt cx="0" cy="0"/>
        </a:xfrm>
      </p:grpSpPr>
      <p:sp>
        <p:nvSpPr>
          <p:cNvPr id="36" name="Google Shape;36;p8"/>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lt1"/>
              </a:buClr>
              <a:buSzPts val="3200"/>
              <a:buFont typeface="Arial"/>
              <a:buNone/>
              <a:defRPr sz="32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37" name="Google Shape;37;p8"/>
          <p:cNvSpPr txBox="1">
            <a:spLocks noGrp="1"/>
          </p:cNvSpPr>
          <p:nvPr>
            <p:ph type="body" idx="1"/>
          </p:nvPr>
        </p:nvSpPr>
        <p:spPr>
          <a:xfrm>
            <a:off x="471900" y="1919075"/>
            <a:ext cx="8222100" cy="2710125"/>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l" rtl="0">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38" name="Google Shape;38;p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3" name="TextBox 2">
            <a:extLst>
              <a:ext uri="{FF2B5EF4-FFF2-40B4-BE49-F238E27FC236}">
                <a16:creationId xmlns:a16="http://schemas.microsoft.com/office/drawing/2014/main" id="{91B0B490-09AD-8BBB-7003-6B611F313D8B}"/>
              </a:ext>
            </a:extLst>
          </p:cNvPr>
          <p:cNvSpPr txBox="1"/>
          <p:nvPr userDrawn="1">
            <p:extLst>
              <p:ext uri="{1162E1C5-73C7-4A58-AE30-91384D911F3F}">
                <p184:classification xmlns:p184="http://schemas.microsoft.com/office/powerpoint/2018/4/main" val="ftr"/>
              </p:ext>
            </p:extLst>
          </p:nvPr>
        </p:nvSpPr>
        <p:spPr>
          <a:xfrm>
            <a:off x="8267700" y="4958080"/>
            <a:ext cx="833438" cy="121920"/>
          </a:xfrm>
          <a:prstGeom prst="rect">
            <a:avLst/>
          </a:prstGeom>
        </p:spPr>
        <p:txBody>
          <a:bodyPr horzOverflow="overflow" lIns="0" tIns="0" rIns="0" bIns="0">
            <a:spAutoFit/>
          </a:bodyPr>
          <a:lstStyle/>
          <a:p>
            <a:pPr algn="l"/>
            <a:r>
              <a:rPr lang="en-US" sz="800">
                <a:solidFill>
                  <a:srgbClr val="000000">
                    <a:alpha val="50000"/>
                  </a:srgbClr>
                </a:solidFill>
                <a:latin typeface="Aptos" panose="020B0004020202020204" pitchFamily="34" charset="0"/>
              </a:rPr>
              <a:t>Cisco Confidential</a:t>
            </a:r>
          </a:p>
        </p:txBody>
      </p:sp>
    </p:spTree>
  </p:cSld>
  <p:clrMap bg1="lt1" tx1="dk1" bg2="dk2" tx2="lt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hyperlink" Target="https://mailarchive.ietf.org/arch/browse/fantel/" TargetMode="External"/><Relationship Id="rId2" Type="http://schemas.openxmlformats.org/officeDocument/2006/relationships/hyperlink" Target="mailto:fantel@ietf.org" TargetMode="External"/><Relationship Id="rId1" Type="http://schemas.openxmlformats.org/officeDocument/2006/relationships/slideLayout" Target="../slideLayouts/slideLayout8.xml"/><Relationship Id="rId6" Type="http://schemas.openxmlformats.org/officeDocument/2006/relationships/hyperlink" Target="https://github.com/Yingzhen-ietf/FANN-charter/" TargetMode="External"/><Relationship Id="rId5" Type="http://schemas.openxmlformats.org/officeDocument/2006/relationships/hyperlink" Target="https://github.com/ietf-wg-rtgwg/draft-ietf-rtgwg-net-notif-ps" TargetMode="External"/><Relationship Id="rId4" Type="http://schemas.openxmlformats.org/officeDocument/2006/relationships/hyperlink" Target="https://datatracker.ietf.org/doc/draft-ietf-rtgwg-net-notif-ps/"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9"/>
          <p:cNvSpPr txBox="1">
            <a:spLocks noGrp="1"/>
          </p:cNvSpPr>
          <p:nvPr>
            <p:ph type="title"/>
          </p:nvPr>
        </p:nvSpPr>
        <p:spPr>
          <a:xfrm>
            <a:off x="754464" y="2104950"/>
            <a:ext cx="7635000" cy="933600"/>
          </a:xfrm>
          <a:prstGeom prst="rect">
            <a:avLst/>
          </a:prstGeom>
          <a:noFill/>
          <a:ln>
            <a:noFill/>
          </a:ln>
        </p:spPr>
        <p:txBody>
          <a:bodyPr spcFirstLastPara="1" wrap="square" lIns="91400" tIns="91400" rIns="91400" bIns="91400" anchor="b" anchorCtr="0">
            <a:noAutofit/>
          </a:bodyPr>
          <a:lstStyle/>
          <a:p>
            <a:pPr marL="0" marR="0" lvl="0" indent="0" algn="l" rtl="0">
              <a:lnSpc>
                <a:spcPct val="100000"/>
              </a:lnSpc>
              <a:spcBef>
                <a:spcPts val="0"/>
              </a:spcBef>
              <a:spcAft>
                <a:spcPts val="0"/>
              </a:spcAft>
              <a:buClr>
                <a:srgbClr val="FFFFFF"/>
              </a:buClr>
              <a:buSzPts val="4200"/>
              <a:buFont typeface="Open Sans"/>
              <a:buNone/>
            </a:pPr>
            <a:r>
              <a:rPr lang="en-US" sz="3600" dirty="0">
                <a:latin typeface="Inter"/>
                <a:ea typeface="Inter"/>
                <a:cs typeface="Inter"/>
                <a:sym typeface="Inter"/>
              </a:rPr>
              <a:t>IETF 1</a:t>
            </a:r>
            <a:r>
              <a:rPr lang="en-US" sz="3600" dirty="0"/>
              <a:t>25</a:t>
            </a:r>
            <a:endParaRPr sz="3600" dirty="0">
              <a:latin typeface="Inter"/>
              <a:ea typeface="Inter"/>
              <a:cs typeface="Inter"/>
              <a:sym typeface="Inter"/>
            </a:endParaRPr>
          </a:p>
        </p:txBody>
      </p:sp>
      <p:sp>
        <p:nvSpPr>
          <p:cNvPr id="100" name="Google Shape;100;p19"/>
          <p:cNvSpPr txBox="1"/>
          <p:nvPr/>
        </p:nvSpPr>
        <p:spPr>
          <a:xfrm>
            <a:off x="754475" y="1465800"/>
            <a:ext cx="4986900" cy="522900"/>
          </a:xfrm>
          <a:prstGeom prst="rect">
            <a:avLst/>
          </a:prstGeom>
          <a:noFill/>
          <a:ln>
            <a:noFill/>
          </a:ln>
        </p:spPr>
        <p:txBody>
          <a:bodyPr spcFirstLastPara="1" wrap="square" lIns="91400" tIns="91400" rIns="91400" bIns="91400" anchor="t" anchorCtr="0">
            <a:noAutofit/>
          </a:bodyPr>
          <a:lstStyle/>
          <a:p>
            <a:pPr marL="0" marR="0" lvl="0" indent="0" algn="l" rtl="0">
              <a:lnSpc>
                <a:spcPct val="100000"/>
              </a:lnSpc>
              <a:spcBef>
                <a:spcPts val="0"/>
              </a:spcBef>
              <a:spcAft>
                <a:spcPts val="0"/>
              </a:spcAft>
              <a:buClr>
                <a:srgbClr val="FFFFFF"/>
              </a:buClr>
              <a:buSzPts val="2400"/>
              <a:buFont typeface="Montserrat"/>
              <a:buNone/>
            </a:pPr>
            <a:r>
              <a:rPr lang="en-US" sz="2100" dirty="0">
                <a:solidFill>
                  <a:srgbClr val="FFFFFF"/>
                </a:solidFill>
                <a:latin typeface="Inter"/>
                <a:ea typeface="Inter"/>
                <a:cs typeface="Inter"/>
                <a:sym typeface="Inter"/>
              </a:rPr>
              <a:t>16 March 2026</a:t>
            </a:r>
            <a:endParaRPr sz="1100" dirty="0">
              <a:latin typeface="Inter"/>
              <a:ea typeface="Inter"/>
              <a:cs typeface="Inter"/>
              <a:sym typeface="Inter"/>
            </a:endParaRPr>
          </a:p>
        </p:txBody>
      </p:sp>
      <p:sp>
        <p:nvSpPr>
          <p:cNvPr id="101" name="Google Shape;101;p19"/>
          <p:cNvSpPr txBox="1"/>
          <p:nvPr/>
        </p:nvSpPr>
        <p:spPr>
          <a:xfrm>
            <a:off x="294650" y="4322350"/>
            <a:ext cx="3783600" cy="441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200">
                <a:latin typeface="Inter"/>
                <a:ea typeface="Inter"/>
                <a:cs typeface="Inter"/>
                <a:sym typeface="Inter"/>
              </a:rPr>
              <a:t>Internet Engineering Task Force</a:t>
            </a:r>
            <a:endParaRPr sz="1200">
              <a:latin typeface="Inter"/>
              <a:ea typeface="Inter"/>
              <a:cs typeface="Inter"/>
              <a:sym typeface="Inter"/>
            </a:endParaRPr>
          </a:p>
          <a:p>
            <a:pPr marL="0" lvl="0" indent="0" algn="l" rtl="0">
              <a:spcBef>
                <a:spcPts val="0"/>
              </a:spcBef>
              <a:spcAft>
                <a:spcPts val="0"/>
              </a:spcAft>
              <a:buNone/>
            </a:pPr>
            <a:r>
              <a:rPr lang="en-US" sz="1200">
                <a:latin typeface="Inter"/>
                <a:ea typeface="Inter"/>
                <a:cs typeface="Inter"/>
                <a:sym typeface="Inter"/>
              </a:rPr>
              <a:t>© 2026 IETF Trust </a:t>
            </a:r>
            <a:endParaRPr sz="1200">
              <a:latin typeface="Inter"/>
              <a:ea typeface="Inter"/>
              <a:cs typeface="Inter"/>
              <a:sym typeface="Inter"/>
            </a:endParaRPr>
          </a:p>
          <a:p>
            <a:pPr marL="0" lvl="0" indent="0" algn="l" rtl="0">
              <a:spcBef>
                <a:spcPts val="0"/>
              </a:spcBef>
              <a:spcAft>
                <a:spcPts val="0"/>
              </a:spcAft>
              <a:buNone/>
            </a:pPr>
            <a:r>
              <a:rPr lang="en-US" sz="1200">
                <a:latin typeface="Inter"/>
                <a:ea typeface="Inter"/>
                <a:cs typeface="Inter"/>
                <a:sym typeface="Inter"/>
              </a:rPr>
              <a:t>Production by Meetecho</a:t>
            </a:r>
            <a:endParaRPr sz="1200">
              <a:latin typeface="Inter"/>
              <a:ea typeface="Inter"/>
              <a:cs typeface="Inter"/>
              <a:sym typeface="Inter"/>
            </a:endParaRPr>
          </a:p>
        </p:txBody>
      </p:sp>
      <p:sp>
        <p:nvSpPr>
          <p:cNvPr id="102" name="Google Shape;102;p19"/>
          <p:cNvSpPr txBox="1"/>
          <p:nvPr/>
        </p:nvSpPr>
        <p:spPr>
          <a:xfrm>
            <a:off x="754475" y="3154800"/>
            <a:ext cx="5724900" cy="667800"/>
          </a:xfrm>
          <a:prstGeom prst="rect">
            <a:avLst/>
          </a:prstGeom>
          <a:noFill/>
          <a:ln>
            <a:noFill/>
          </a:ln>
        </p:spPr>
        <p:txBody>
          <a:bodyPr spcFirstLastPara="1" wrap="square" lIns="91425" tIns="91425" rIns="91425" bIns="91425" anchor="t" anchorCtr="0">
            <a:noAutofit/>
          </a:bodyPr>
          <a:lstStyle/>
          <a:p>
            <a:pPr marL="0" lvl="0" indent="0" algn="l" rtl="0">
              <a:lnSpc>
                <a:spcPct val="110000"/>
              </a:lnSpc>
              <a:spcBef>
                <a:spcPts val="300"/>
              </a:spcBef>
              <a:spcAft>
                <a:spcPts val="0"/>
              </a:spcAft>
              <a:buNone/>
            </a:pPr>
            <a:r>
              <a:rPr lang="en-US" sz="2400" dirty="0">
                <a:solidFill>
                  <a:srgbClr val="FFF2CC"/>
                </a:solidFill>
                <a:latin typeface="Inter"/>
                <a:ea typeface="Inter"/>
                <a:cs typeface="Inter"/>
                <a:sym typeface="Inter"/>
              </a:rPr>
              <a:t>FANN (FANTEL) side meeting</a:t>
            </a:r>
            <a:endParaRPr sz="2400" dirty="0">
              <a:solidFill>
                <a:srgbClr val="FFF2CC"/>
              </a:solidFill>
              <a:latin typeface="Inter"/>
              <a:ea typeface="Inter"/>
              <a:cs typeface="Inter"/>
              <a:sym typeface="Inte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20"/>
          <p:cNvSpPr txBox="1"/>
          <p:nvPr/>
        </p:nvSpPr>
        <p:spPr>
          <a:xfrm>
            <a:off x="311700" y="740175"/>
            <a:ext cx="8561400" cy="4100700"/>
          </a:xfrm>
          <a:prstGeom prst="rect">
            <a:avLst/>
          </a:prstGeom>
          <a:noFill/>
          <a:ln>
            <a:noFill/>
          </a:ln>
        </p:spPr>
        <p:txBody>
          <a:bodyPr spcFirstLastPara="1" wrap="square" lIns="91400" tIns="45700" rIns="91400" bIns="45700" anchor="t" anchorCtr="0">
            <a:noAutofit/>
          </a:bodyPr>
          <a:lstStyle/>
          <a:p>
            <a:pPr marL="0" lvl="0" indent="0" algn="l" rtl="0">
              <a:lnSpc>
                <a:spcPct val="115000"/>
              </a:lnSpc>
              <a:spcBef>
                <a:spcPts val="0"/>
              </a:spcBef>
              <a:spcAft>
                <a:spcPts val="1000"/>
              </a:spcAft>
              <a:buNone/>
            </a:pPr>
            <a:r>
              <a:rPr lang="en-US" sz="1200">
                <a:solidFill>
                  <a:srgbClr val="000000"/>
                </a:solidFill>
                <a:latin typeface="Inter"/>
                <a:ea typeface="Inter"/>
                <a:cs typeface="Inter"/>
                <a:sym typeface="Inter"/>
              </a:rPr>
              <a:t>By participating in the IETF you agree to follow IETF processes and policies. This Note Well is a reminder </a:t>
            </a:r>
            <a:r>
              <a:rPr lang="en-US" sz="1200">
                <a:latin typeface="Inter"/>
                <a:ea typeface="Inter"/>
                <a:cs typeface="Inter"/>
                <a:sym typeface="Inter"/>
              </a:rPr>
              <a:t> </a:t>
            </a:r>
            <a:r>
              <a:rPr lang="en-US" sz="1200">
                <a:solidFill>
                  <a:srgbClr val="000000"/>
                </a:solidFill>
                <a:latin typeface="Inter"/>
                <a:ea typeface="Inter"/>
                <a:cs typeface="Inter"/>
                <a:sym typeface="Inter"/>
              </a:rPr>
              <a:t>of some of those policies. For a linked version of this text, please visit </a:t>
            </a:r>
            <a:r>
              <a:rPr lang="en-US" sz="1200" b="1">
                <a:solidFill>
                  <a:srgbClr val="000000"/>
                </a:solidFill>
                <a:latin typeface="Inter"/>
                <a:ea typeface="Inter"/>
                <a:cs typeface="Inter"/>
                <a:sym typeface="Inter"/>
              </a:rPr>
              <a:t>www.ietf.org/note-well </a:t>
            </a:r>
            <a:r>
              <a:rPr lang="en-US" sz="1200">
                <a:solidFill>
                  <a:srgbClr val="000000"/>
                </a:solidFill>
                <a:latin typeface="Inter"/>
                <a:ea typeface="Inter"/>
                <a:cs typeface="Inter"/>
                <a:sym typeface="Inter"/>
              </a:rPr>
              <a:t>or use the QR code below</a:t>
            </a:r>
            <a:endParaRPr sz="1200">
              <a:solidFill>
                <a:srgbClr val="434343"/>
              </a:solidFill>
              <a:latin typeface="Inter"/>
              <a:ea typeface="Inter"/>
              <a:cs typeface="Inter"/>
              <a:sym typeface="Inter"/>
            </a:endParaRPr>
          </a:p>
        </p:txBody>
      </p:sp>
      <p:sp>
        <p:nvSpPr>
          <p:cNvPr id="108" name="Google Shape;108;p20"/>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a:latin typeface="Inter"/>
                <a:ea typeface="Inter"/>
                <a:cs typeface="Inter"/>
                <a:sym typeface="Inter"/>
              </a:rPr>
              <a:t>Note Well</a:t>
            </a:r>
            <a:endParaRPr sz="2400" i="0" u="none" strike="noStrike" cap="none">
              <a:solidFill>
                <a:schemeClr val="lt1"/>
              </a:solidFill>
              <a:latin typeface="Inter"/>
              <a:ea typeface="Inter"/>
              <a:cs typeface="Inter"/>
              <a:sym typeface="Inter"/>
            </a:endParaRPr>
          </a:p>
        </p:txBody>
      </p:sp>
      <p:sp>
        <p:nvSpPr>
          <p:cNvPr id="109" name="Google Shape;109;p20"/>
          <p:cNvSpPr txBox="1"/>
          <p:nvPr/>
        </p:nvSpPr>
        <p:spPr>
          <a:xfrm>
            <a:off x="311700" y="1282025"/>
            <a:ext cx="7584300" cy="3346500"/>
          </a:xfrm>
          <a:prstGeom prst="rect">
            <a:avLst/>
          </a:prstGeom>
          <a:noFill/>
          <a:ln>
            <a:noFill/>
          </a:ln>
        </p:spPr>
        <p:txBody>
          <a:bodyPr spcFirstLastPara="1" wrap="square" lIns="91400" tIns="45700" rIns="91400" bIns="45700" anchor="t" anchorCtr="0">
            <a:noAutofit/>
          </a:bodyPr>
          <a:lstStyle/>
          <a:p>
            <a:pPr marL="457200" lvl="0" indent="-304800" algn="l" rtl="0">
              <a:lnSpc>
                <a:spcPct val="115000"/>
              </a:lnSpc>
              <a:spcBef>
                <a:spcPts val="0"/>
              </a:spcBef>
              <a:spcAft>
                <a:spcPts val="0"/>
              </a:spcAft>
              <a:buClr>
                <a:srgbClr val="000000"/>
              </a:buClr>
              <a:buSzPts val="1200"/>
              <a:buFont typeface="Inter"/>
              <a:buChar char="●"/>
            </a:pPr>
            <a:r>
              <a:rPr lang="en-US" sz="1200">
                <a:solidFill>
                  <a:srgbClr val="000000"/>
                </a:solidFill>
                <a:latin typeface="Inter"/>
                <a:ea typeface="Inter"/>
                <a:cs typeface="Inter"/>
                <a:sym typeface="Inter"/>
              </a:rPr>
              <a:t>IETF participants are expected to behave in a professional manner and extend respect and courtesy to their colleagues at all times (see </a:t>
            </a:r>
            <a:r>
              <a:rPr lang="en-US" sz="1200" b="1">
                <a:solidFill>
                  <a:srgbClr val="000000"/>
                </a:solidFill>
                <a:latin typeface="Inter"/>
                <a:ea typeface="Inter"/>
                <a:cs typeface="Inter"/>
                <a:sym typeface="Inter"/>
              </a:rPr>
              <a:t>RFC 7154: IETF Guidelines for Conduct and IETF Anti-Harassment Policy</a:t>
            </a:r>
            <a:r>
              <a:rPr lang="en-US" sz="1200">
                <a:solidFill>
                  <a:srgbClr val="000000"/>
                </a:solidFill>
                <a:latin typeface="Inter"/>
                <a:ea typeface="Inter"/>
                <a:cs typeface="Inter"/>
                <a:sym typeface="Inter"/>
              </a:rPr>
              <a:t>). If you have any concerns about behavior, please contact the </a:t>
            </a:r>
            <a:r>
              <a:rPr lang="en-US" sz="1200" i="1">
                <a:solidFill>
                  <a:srgbClr val="000000"/>
                </a:solidFill>
                <a:latin typeface="Inter"/>
                <a:ea typeface="Inter"/>
                <a:cs typeface="Inter"/>
                <a:sym typeface="Inter"/>
              </a:rPr>
              <a:t>Ombudsteam</a:t>
            </a:r>
            <a:r>
              <a:rPr lang="en-US" sz="1200">
                <a:solidFill>
                  <a:srgbClr val="000000"/>
                </a:solidFill>
                <a:latin typeface="Inter"/>
                <a:ea typeface="Inter"/>
                <a:cs typeface="Inter"/>
                <a:sym typeface="Inter"/>
              </a:rPr>
              <a:t> who have a duty of confidentiality and extensive powers to act, as set out in </a:t>
            </a:r>
            <a:r>
              <a:rPr lang="en-US" sz="1200" b="1">
                <a:solidFill>
                  <a:srgbClr val="000000"/>
                </a:solidFill>
                <a:latin typeface="Inter"/>
                <a:ea typeface="Inter"/>
                <a:cs typeface="Inter"/>
                <a:sym typeface="Inter"/>
              </a:rPr>
              <a:t>RFC 7776: IETF Anti-Harassment Procedures</a:t>
            </a:r>
            <a:r>
              <a:rPr lang="en-US" sz="1200">
                <a:solidFill>
                  <a:srgbClr val="000000"/>
                </a:solidFill>
                <a:latin typeface="Inter"/>
                <a:ea typeface="Inter"/>
                <a:cs typeface="Inter"/>
                <a:sym typeface="Inter"/>
              </a:rPr>
              <a:t>.</a:t>
            </a:r>
            <a:endParaRPr sz="1200">
              <a:solidFill>
                <a:srgbClr val="000000"/>
              </a:solidFill>
              <a:latin typeface="Inter"/>
              <a:ea typeface="Inter"/>
              <a:cs typeface="Inter"/>
              <a:sym typeface="Inter"/>
            </a:endParaRPr>
          </a:p>
          <a:p>
            <a:pPr marL="457200" lvl="0" indent="-304800" algn="l" rtl="0">
              <a:lnSpc>
                <a:spcPct val="115000"/>
              </a:lnSpc>
              <a:spcBef>
                <a:spcPts val="1000"/>
              </a:spcBef>
              <a:spcAft>
                <a:spcPts val="0"/>
              </a:spcAft>
              <a:buClr>
                <a:srgbClr val="000000"/>
              </a:buClr>
              <a:buSzPts val="1200"/>
              <a:buFont typeface="Inter"/>
              <a:buChar char="●"/>
            </a:pPr>
            <a:r>
              <a:rPr lang="en-US" sz="1200">
                <a:solidFill>
                  <a:srgbClr val="000000"/>
                </a:solidFill>
                <a:latin typeface="Inter"/>
                <a:ea typeface="Inter"/>
                <a:cs typeface="Inter"/>
                <a:sym typeface="Inter"/>
              </a:rPr>
              <a:t>If you are aware that any IETF contribution (as defined in </a:t>
            </a:r>
            <a:r>
              <a:rPr lang="en-US" sz="1200" b="1">
                <a:solidFill>
                  <a:srgbClr val="000000"/>
                </a:solidFill>
                <a:latin typeface="Inter"/>
                <a:ea typeface="Inter"/>
                <a:cs typeface="Inter"/>
                <a:sym typeface="Inter"/>
              </a:rPr>
              <a:t>RFC 5378: Rights Contributors Provide to the IETF Trust</a:t>
            </a:r>
            <a:r>
              <a:rPr lang="en-US" sz="1200">
                <a:solidFill>
                  <a:srgbClr val="000000"/>
                </a:solidFill>
                <a:latin typeface="Inter"/>
                <a:ea typeface="Inter"/>
                <a:cs typeface="Inter"/>
                <a:sym typeface="Inter"/>
              </a:rPr>
              <a:t>) is covered by patents or patent applications that are owned or controlled by you, your employer or your sponsor, you must disclose that fact, </a:t>
            </a:r>
            <a:br>
              <a:rPr lang="en-US" sz="1200">
                <a:solidFill>
                  <a:srgbClr val="000000"/>
                </a:solidFill>
                <a:latin typeface="Inter"/>
                <a:ea typeface="Inter"/>
                <a:cs typeface="Inter"/>
                <a:sym typeface="Inter"/>
              </a:rPr>
            </a:br>
            <a:r>
              <a:rPr lang="en-US" sz="1200">
                <a:solidFill>
                  <a:srgbClr val="000000"/>
                </a:solidFill>
                <a:latin typeface="Inter"/>
                <a:ea typeface="Inter"/>
                <a:cs typeface="Inter"/>
                <a:sym typeface="Inter"/>
              </a:rPr>
              <a:t>or not participate in the discussion </a:t>
            </a:r>
            <a:r>
              <a:rPr lang="en-US" sz="1200">
                <a:latin typeface="Inter"/>
                <a:ea typeface="Inter"/>
                <a:cs typeface="Inter"/>
                <a:sym typeface="Inter"/>
              </a:rPr>
              <a:t> </a:t>
            </a:r>
            <a:r>
              <a:rPr lang="en-US" sz="1200">
                <a:solidFill>
                  <a:srgbClr val="000000"/>
                </a:solidFill>
                <a:latin typeface="Inter"/>
                <a:ea typeface="Inter"/>
                <a:cs typeface="Inter"/>
                <a:sym typeface="Inter"/>
              </a:rPr>
              <a:t>(see </a:t>
            </a:r>
            <a:r>
              <a:rPr lang="en-US" sz="1200" b="1">
                <a:solidFill>
                  <a:srgbClr val="000000"/>
                </a:solidFill>
                <a:latin typeface="Inter"/>
                <a:ea typeface="Inter"/>
                <a:cs typeface="Inter"/>
                <a:sym typeface="Inter"/>
              </a:rPr>
              <a:t>RFC 8179: Intellectual Property Rights in IETF Technology</a:t>
            </a:r>
            <a:r>
              <a:rPr lang="en-US" sz="1200">
                <a:solidFill>
                  <a:srgbClr val="000000"/>
                </a:solidFill>
                <a:latin typeface="Inter"/>
                <a:ea typeface="Inter"/>
                <a:cs typeface="Inter"/>
                <a:sym typeface="Inter"/>
              </a:rPr>
              <a:t>).</a:t>
            </a:r>
            <a:endParaRPr sz="1200">
              <a:solidFill>
                <a:srgbClr val="000000"/>
              </a:solidFill>
              <a:latin typeface="Inter"/>
              <a:ea typeface="Inter"/>
              <a:cs typeface="Inter"/>
              <a:sym typeface="Inter"/>
            </a:endParaRPr>
          </a:p>
          <a:p>
            <a:pPr marL="457200" lvl="0" indent="-304800" algn="l" rtl="0">
              <a:lnSpc>
                <a:spcPct val="115000"/>
              </a:lnSpc>
              <a:spcBef>
                <a:spcPts val="1000"/>
              </a:spcBef>
              <a:spcAft>
                <a:spcPts val="0"/>
              </a:spcAft>
              <a:buClr>
                <a:srgbClr val="000000"/>
              </a:buClr>
              <a:buSzPts val="1200"/>
              <a:buFont typeface="Inter"/>
              <a:buChar char="●"/>
            </a:pPr>
            <a:r>
              <a:rPr lang="en-US" sz="1200">
                <a:solidFill>
                  <a:srgbClr val="000000"/>
                </a:solidFill>
                <a:latin typeface="Inter"/>
                <a:ea typeface="Inter"/>
                <a:cs typeface="Inter"/>
                <a:sym typeface="Inter"/>
              </a:rPr>
              <a:t>For detailed process information consult </a:t>
            </a:r>
            <a:r>
              <a:rPr lang="en-US" sz="1200" b="1">
                <a:solidFill>
                  <a:srgbClr val="000000"/>
                </a:solidFill>
                <a:latin typeface="Inter"/>
                <a:ea typeface="Inter"/>
                <a:cs typeface="Inter"/>
                <a:sym typeface="Inter"/>
              </a:rPr>
              <a:t>RFC 2026: Internet Standards Process</a:t>
            </a:r>
            <a:r>
              <a:rPr lang="en-US" sz="1200">
                <a:solidFill>
                  <a:srgbClr val="000000"/>
                </a:solidFill>
                <a:latin typeface="Inter"/>
                <a:ea typeface="Inter"/>
                <a:cs typeface="Inter"/>
                <a:sym typeface="Inter"/>
              </a:rPr>
              <a:t> and </a:t>
            </a:r>
            <a:br>
              <a:rPr lang="en-US" sz="1200">
                <a:solidFill>
                  <a:srgbClr val="000000"/>
                </a:solidFill>
                <a:latin typeface="Inter"/>
                <a:ea typeface="Inter"/>
                <a:cs typeface="Inter"/>
                <a:sym typeface="Inter"/>
              </a:rPr>
            </a:br>
            <a:r>
              <a:rPr lang="en-US" sz="1200" i="1">
                <a:solidFill>
                  <a:srgbClr val="000000"/>
                </a:solidFill>
                <a:latin typeface="Inter"/>
                <a:ea typeface="Inter"/>
                <a:cs typeface="Inter"/>
                <a:sym typeface="Inter"/>
              </a:rPr>
              <a:t>RFC 2418: </a:t>
            </a:r>
            <a:r>
              <a:rPr lang="en-US" sz="1200" b="1">
                <a:solidFill>
                  <a:srgbClr val="000000"/>
                </a:solidFill>
                <a:latin typeface="Inter"/>
                <a:ea typeface="Inter"/>
                <a:cs typeface="Inter"/>
                <a:sym typeface="Inter"/>
              </a:rPr>
              <a:t>IETF Working Group Guidelines and Procedures</a:t>
            </a:r>
            <a:r>
              <a:rPr lang="en-US" sz="1200">
                <a:solidFill>
                  <a:srgbClr val="000000"/>
                </a:solidFill>
                <a:latin typeface="Inter"/>
                <a:ea typeface="Inter"/>
                <a:cs typeface="Inter"/>
                <a:sym typeface="Inter"/>
              </a:rPr>
              <a:t> and updates to those.</a:t>
            </a:r>
            <a:endParaRPr sz="1200">
              <a:solidFill>
                <a:srgbClr val="000000"/>
              </a:solidFill>
              <a:latin typeface="Inter"/>
              <a:ea typeface="Inter"/>
              <a:cs typeface="Inter"/>
              <a:sym typeface="Inter"/>
            </a:endParaRPr>
          </a:p>
          <a:p>
            <a:pPr marL="457200" lvl="0" indent="-304800" algn="l" rtl="0">
              <a:lnSpc>
                <a:spcPct val="115000"/>
              </a:lnSpc>
              <a:spcBef>
                <a:spcPts val="1000"/>
              </a:spcBef>
              <a:spcAft>
                <a:spcPts val="0"/>
              </a:spcAft>
              <a:buClr>
                <a:srgbClr val="000000"/>
              </a:buClr>
              <a:buSzPts val="1200"/>
              <a:buFont typeface="Inter"/>
              <a:buChar char="●"/>
            </a:pPr>
            <a:r>
              <a:rPr lang="en-US" sz="1200">
                <a:solidFill>
                  <a:srgbClr val="000000"/>
                </a:solidFill>
                <a:latin typeface="Inter"/>
                <a:ea typeface="Inter"/>
                <a:cs typeface="Inter"/>
                <a:sym typeface="Inter"/>
              </a:rPr>
              <a:t>The IETF routinely makes public written, audio, video, and photographic records </a:t>
            </a:r>
            <a:br>
              <a:rPr lang="en-US" sz="1200">
                <a:solidFill>
                  <a:srgbClr val="000000"/>
                </a:solidFill>
                <a:latin typeface="Inter"/>
                <a:ea typeface="Inter"/>
                <a:cs typeface="Inter"/>
                <a:sym typeface="Inter"/>
              </a:rPr>
            </a:br>
            <a:r>
              <a:rPr lang="en-US" sz="1200">
                <a:solidFill>
                  <a:srgbClr val="000000"/>
                </a:solidFill>
                <a:latin typeface="Inter"/>
                <a:ea typeface="Inter"/>
                <a:cs typeface="Inter"/>
                <a:sym typeface="Inter"/>
              </a:rPr>
              <a:t>of IETF activities, including your personal information as set out in the </a:t>
            </a:r>
            <a:r>
              <a:rPr lang="en-US" sz="1200" b="1">
                <a:solidFill>
                  <a:srgbClr val="000000"/>
                </a:solidFill>
                <a:latin typeface="Inter"/>
                <a:ea typeface="Inter"/>
                <a:cs typeface="Inter"/>
                <a:sym typeface="Inter"/>
              </a:rPr>
              <a:t>IETF Privacy Statement</a:t>
            </a:r>
            <a:r>
              <a:rPr lang="en-US" sz="1200">
                <a:solidFill>
                  <a:srgbClr val="000000"/>
                </a:solidFill>
                <a:latin typeface="Inter"/>
                <a:ea typeface="Inter"/>
                <a:cs typeface="Inter"/>
                <a:sym typeface="Inter"/>
              </a:rPr>
              <a:t>. </a:t>
            </a:r>
            <a:endParaRPr sz="1200">
              <a:solidFill>
                <a:srgbClr val="000000"/>
              </a:solidFill>
              <a:latin typeface="Inter"/>
              <a:ea typeface="Inter"/>
              <a:cs typeface="Inter"/>
              <a:sym typeface="Inter"/>
            </a:endParaRPr>
          </a:p>
          <a:p>
            <a:pPr marL="0" lvl="0" indent="0" algn="l" rtl="0">
              <a:lnSpc>
                <a:spcPct val="115000"/>
              </a:lnSpc>
              <a:spcBef>
                <a:spcPts val="1000"/>
              </a:spcBef>
              <a:spcAft>
                <a:spcPts val="1000"/>
              </a:spcAft>
              <a:buNone/>
            </a:pPr>
            <a:r>
              <a:rPr lang="en-US" sz="1200">
                <a:solidFill>
                  <a:srgbClr val="000000"/>
                </a:solidFill>
                <a:latin typeface="Inter"/>
                <a:ea typeface="Inter"/>
                <a:cs typeface="Inter"/>
                <a:sym typeface="Inter"/>
              </a:rPr>
              <a:t>For advice, please talk to Working Group chairs or Area Directors.</a:t>
            </a:r>
            <a:endParaRPr sz="1200">
              <a:solidFill>
                <a:srgbClr val="434343"/>
              </a:solidFill>
              <a:latin typeface="Inter"/>
              <a:ea typeface="Inter"/>
              <a:cs typeface="Inter"/>
              <a:sym typeface="Inter"/>
            </a:endParaRPr>
          </a:p>
        </p:txBody>
      </p:sp>
      <p:pic>
        <p:nvPicPr>
          <p:cNvPr id="110" name="Google Shape;110;p20"/>
          <p:cNvPicPr preferRelativeResize="0"/>
          <p:nvPr/>
        </p:nvPicPr>
        <p:blipFill>
          <a:blip r:embed="rId3">
            <a:alphaModFix/>
          </a:blip>
          <a:stretch>
            <a:fillRect/>
          </a:stretch>
        </p:blipFill>
        <p:spPr>
          <a:xfrm>
            <a:off x="7489875" y="3038675"/>
            <a:ext cx="1383300" cy="1383300"/>
          </a:xfrm>
          <a:prstGeom prst="rect">
            <a:avLst/>
          </a:prstGeom>
          <a:noFill/>
          <a:ln w="9525" cap="flat" cmpd="sng">
            <a:solidFill>
              <a:srgbClr val="000000"/>
            </a:solidFill>
            <a:prstDash val="solid"/>
            <a:round/>
            <a:headEnd type="none" w="sm" len="sm"/>
            <a:tailEnd type="none" w="sm" len="sm"/>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98CFE40-1876-9D19-C6B0-60E6AF209C91}"/>
              </a:ext>
            </a:extLst>
          </p:cNvPr>
          <p:cNvSpPr>
            <a:spLocks noGrp="1"/>
          </p:cNvSpPr>
          <p:nvPr>
            <p:ph type="title"/>
          </p:nvPr>
        </p:nvSpPr>
        <p:spPr/>
        <p:txBody>
          <a:bodyPr/>
          <a:lstStyle/>
          <a:p>
            <a:r>
              <a:rPr lang="en-US" dirty="0"/>
              <a:t>Agenda</a:t>
            </a:r>
          </a:p>
        </p:txBody>
      </p:sp>
      <p:sp>
        <p:nvSpPr>
          <p:cNvPr id="6" name="Text Placeholder 5">
            <a:extLst>
              <a:ext uri="{FF2B5EF4-FFF2-40B4-BE49-F238E27FC236}">
                <a16:creationId xmlns:a16="http://schemas.microsoft.com/office/drawing/2014/main" id="{377D0E8C-F25B-8ACB-C69E-D599D4465503}"/>
              </a:ext>
            </a:extLst>
          </p:cNvPr>
          <p:cNvSpPr>
            <a:spLocks noGrp="1"/>
          </p:cNvSpPr>
          <p:nvPr>
            <p:ph type="body" idx="1"/>
          </p:nvPr>
        </p:nvSpPr>
        <p:spPr/>
        <p:txBody>
          <a:bodyPr/>
          <a:lstStyle/>
          <a:p>
            <a:r>
              <a:rPr lang="en-US" dirty="0"/>
              <a:t>Proposed name and materials</a:t>
            </a:r>
          </a:p>
          <a:p>
            <a:endParaRPr lang="en-US" dirty="0"/>
          </a:p>
          <a:p>
            <a:r>
              <a:rPr lang="en-US" dirty="0"/>
              <a:t>FANN charter text discussion</a:t>
            </a:r>
          </a:p>
          <a:p>
            <a:endParaRPr lang="en-US" dirty="0"/>
          </a:p>
          <a:p>
            <a:r>
              <a:rPr lang="en-US" dirty="0"/>
              <a:t>Next Steps</a:t>
            </a:r>
          </a:p>
        </p:txBody>
      </p:sp>
      <p:sp>
        <p:nvSpPr>
          <p:cNvPr id="4" name="Slide Number Placeholder 3">
            <a:extLst>
              <a:ext uri="{FF2B5EF4-FFF2-40B4-BE49-F238E27FC236}">
                <a16:creationId xmlns:a16="http://schemas.microsoft.com/office/drawing/2014/main" id="{DF34408E-C71A-DD19-9750-68108027F6D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Tree>
    <p:extLst>
      <p:ext uri="{BB962C8B-B14F-4D97-AF65-F5344CB8AC3E}">
        <p14:creationId xmlns:p14="http://schemas.microsoft.com/office/powerpoint/2010/main" val="12098493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8ACD64-C1B6-F220-74E0-DF1965241F0C}"/>
              </a:ext>
            </a:extLst>
          </p:cNvPr>
          <p:cNvSpPr>
            <a:spLocks noGrp="1"/>
          </p:cNvSpPr>
          <p:nvPr>
            <p:ph type="title"/>
          </p:nvPr>
        </p:nvSpPr>
        <p:spPr/>
        <p:txBody>
          <a:bodyPr/>
          <a:lstStyle/>
          <a:p>
            <a:r>
              <a:rPr lang="en-US" dirty="0"/>
              <a:t>Proposed name and materials</a:t>
            </a:r>
          </a:p>
        </p:txBody>
      </p:sp>
      <p:sp>
        <p:nvSpPr>
          <p:cNvPr id="3" name="Text Placeholder 2">
            <a:extLst>
              <a:ext uri="{FF2B5EF4-FFF2-40B4-BE49-F238E27FC236}">
                <a16:creationId xmlns:a16="http://schemas.microsoft.com/office/drawing/2014/main" id="{D1C7EF7B-F659-5CD5-C9DB-F5440CF3E54C}"/>
              </a:ext>
            </a:extLst>
          </p:cNvPr>
          <p:cNvSpPr>
            <a:spLocks noGrp="1"/>
          </p:cNvSpPr>
          <p:nvPr>
            <p:ph type="body" idx="1"/>
          </p:nvPr>
        </p:nvSpPr>
        <p:spPr/>
        <p:txBody>
          <a:bodyPr/>
          <a:lstStyle/>
          <a:p>
            <a:r>
              <a:rPr lang="en-US" dirty="0" err="1"/>
              <a:t>FAst</a:t>
            </a:r>
            <a:r>
              <a:rPr lang="en-US" dirty="0"/>
              <a:t> Network Notifications (FANN)</a:t>
            </a:r>
          </a:p>
          <a:p>
            <a:r>
              <a:rPr lang="en-US" dirty="0"/>
              <a:t>Mailing list:</a:t>
            </a:r>
          </a:p>
          <a:p>
            <a:pPr lvl="1">
              <a:spcBef>
                <a:spcPts val="0"/>
              </a:spcBef>
            </a:pPr>
            <a:r>
              <a:rPr lang="en-US" dirty="0">
                <a:hlinkClick r:id="rId2"/>
              </a:rPr>
              <a:t>fantel@ietf.org</a:t>
            </a:r>
            <a:endParaRPr lang="en-US" dirty="0"/>
          </a:p>
          <a:p>
            <a:pPr lvl="1">
              <a:spcBef>
                <a:spcPts val="0"/>
              </a:spcBef>
            </a:pPr>
            <a:r>
              <a:rPr lang="en-US" dirty="0">
                <a:hlinkClick r:id="rId3"/>
              </a:rPr>
              <a:t>https://mailarchive.ietf.org/arch/browse/fantel/</a:t>
            </a:r>
            <a:endParaRPr lang="en-US" dirty="0"/>
          </a:p>
          <a:p>
            <a:r>
              <a:rPr lang="en-US" dirty="0"/>
              <a:t>Fast Network Notifications Problem Statement (PS): </a:t>
            </a:r>
            <a:r>
              <a:rPr lang="en-US" dirty="0">
                <a:hlinkClick r:id="rId4"/>
              </a:rPr>
              <a:t>https://datatracker.ietf.org/doc/draft-ietf-rtgwg-net-notif-ps/</a:t>
            </a:r>
            <a:r>
              <a:rPr lang="en-US" dirty="0"/>
              <a:t> </a:t>
            </a:r>
          </a:p>
          <a:p>
            <a:r>
              <a:rPr lang="en-US" dirty="0"/>
              <a:t>GitHub:</a:t>
            </a:r>
          </a:p>
          <a:p>
            <a:pPr lvl="1">
              <a:spcBef>
                <a:spcPts val="0"/>
              </a:spcBef>
            </a:pPr>
            <a:r>
              <a:rPr lang="en-US" dirty="0"/>
              <a:t>PS I-D: </a:t>
            </a:r>
            <a:r>
              <a:rPr lang="en-US" dirty="0">
                <a:hlinkClick r:id="rId5"/>
              </a:rPr>
              <a:t>https://github.com/ietf-wg-rtgwg/draft-ietf-rtgwg-net-notif-ps</a:t>
            </a:r>
            <a:r>
              <a:rPr lang="en-US" dirty="0"/>
              <a:t> </a:t>
            </a:r>
          </a:p>
          <a:p>
            <a:pPr lvl="1">
              <a:spcBef>
                <a:spcPts val="0"/>
              </a:spcBef>
            </a:pPr>
            <a:r>
              <a:rPr lang="en-US" dirty="0"/>
              <a:t>FANN proposed charter: </a:t>
            </a:r>
            <a:r>
              <a:rPr lang="en-US" dirty="0">
                <a:hlinkClick r:id="rId6"/>
              </a:rPr>
              <a:t>https://github.com/Yingzhen-ietf/FANN-charter/</a:t>
            </a:r>
            <a:r>
              <a:rPr lang="en-US" dirty="0"/>
              <a:t> </a:t>
            </a:r>
          </a:p>
        </p:txBody>
      </p:sp>
      <p:sp>
        <p:nvSpPr>
          <p:cNvPr id="4" name="Slide Number Placeholder 3">
            <a:extLst>
              <a:ext uri="{FF2B5EF4-FFF2-40B4-BE49-F238E27FC236}">
                <a16:creationId xmlns:a16="http://schemas.microsoft.com/office/drawing/2014/main" id="{F8E1DC65-6055-4718-03DB-0D28D76E2690}"/>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US" smtClean="0"/>
              <a:t>4</a:t>
            </a:fld>
            <a:endParaRPr lang="en-US"/>
          </a:p>
        </p:txBody>
      </p:sp>
    </p:spTree>
    <p:extLst>
      <p:ext uri="{BB962C8B-B14F-4D97-AF65-F5344CB8AC3E}">
        <p14:creationId xmlns:p14="http://schemas.microsoft.com/office/powerpoint/2010/main" val="40708298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03EF20-5363-B194-3246-004B25321B76}"/>
              </a:ext>
            </a:extLst>
          </p:cNvPr>
          <p:cNvSpPr>
            <a:spLocks noGrp="1"/>
          </p:cNvSpPr>
          <p:nvPr>
            <p:ph type="title"/>
          </p:nvPr>
        </p:nvSpPr>
        <p:spPr/>
        <p:txBody>
          <a:bodyPr/>
          <a:lstStyle/>
          <a:p>
            <a:r>
              <a:rPr lang="en-US" dirty="0"/>
              <a:t>FANN charter text discussion</a:t>
            </a:r>
            <a:br>
              <a:rPr lang="en-US" dirty="0"/>
            </a:br>
            <a:r>
              <a:rPr lang="en-US" dirty="0"/>
              <a:t>Overview </a:t>
            </a:r>
          </a:p>
        </p:txBody>
      </p:sp>
      <p:sp>
        <p:nvSpPr>
          <p:cNvPr id="3" name="Text Placeholder 2">
            <a:extLst>
              <a:ext uri="{FF2B5EF4-FFF2-40B4-BE49-F238E27FC236}">
                <a16:creationId xmlns:a16="http://schemas.microsoft.com/office/drawing/2014/main" id="{71054049-D78F-EF4D-C715-FB72C06E35E4}"/>
              </a:ext>
            </a:extLst>
          </p:cNvPr>
          <p:cNvSpPr>
            <a:spLocks noGrp="1"/>
          </p:cNvSpPr>
          <p:nvPr>
            <p:ph type="body" idx="1"/>
          </p:nvPr>
        </p:nvSpPr>
        <p:spPr/>
        <p:txBody>
          <a:bodyPr/>
          <a:lstStyle/>
          <a:p>
            <a:pPr marL="114300" indent="0">
              <a:buNone/>
            </a:pPr>
            <a:r>
              <a:rPr lang="en-US" sz="1100" dirty="0"/>
              <a:t>Modern network applications, ranging from AI/ML training to cloud services, require adaptive networks to ensure reliable and congestion-free data transfer within or across multiple data centers. However, existing traffic management mechanisms often face limitations in responsiveness, coverage, and operational complexity, particularly in high-speed, large-scale, dynamic network environments.</a:t>
            </a:r>
          </a:p>
          <a:p>
            <a:pPr marL="114300" indent="0">
              <a:buNone/>
            </a:pPr>
            <a:endParaRPr lang="en-US" sz="1100" dirty="0"/>
          </a:p>
          <a:p>
            <a:pPr marL="114300" indent="0">
              <a:buNone/>
            </a:pPr>
            <a:r>
              <a:rPr lang="en-US" sz="1100" dirty="0"/>
              <a:t>Modern network hardware is capable of detecting congestion, microbursts and other local status at fine-grained time scales (ranging from microseconds to sub-millisecond), which outpaces the time needed for current mechanisms (e.g. control plane based information distribution or management plane based information collection） to disseminate such information to relevant network nodes for their actions (e.g., traffic engineering (TE), load balancing, flow control, and protection switching etc.), leading to suboptimal performance, delayed recovery, congestion, and inefficient resource utilization.</a:t>
            </a:r>
          </a:p>
          <a:p>
            <a:pPr marL="114300" indent="0">
              <a:buNone/>
            </a:pPr>
            <a:endParaRPr lang="en-US" sz="1100" dirty="0"/>
          </a:p>
          <a:p>
            <a:pPr marL="114300" indent="0">
              <a:buNone/>
            </a:pPr>
            <a:r>
              <a:rPr lang="en-US" sz="1100" dirty="0"/>
              <a:t>The </a:t>
            </a:r>
            <a:r>
              <a:rPr lang="en-US" sz="1100" dirty="0" err="1"/>
              <a:t>FAst</a:t>
            </a:r>
            <a:r>
              <a:rPr lang="en-US" sz="1100" dirty="0"/>
              <a:t> Network Notification (FANN) Working Group is chartered to specify the protocols, mechanisms, and procedures for on-demand, fast notifications of fine-grained network status information, which allow network nodes that may take response actions to learn quickly about the network conditions.</a:t>
            </a:r>
          </a:p>
        </p:txBody>
      </p:sp>
      <p:sp>
        <p:nvSpPr>
          <p:cNvPr id="4" name="Slide Number Placeholder 3">
            <a:extLst>
              <a:ext uri="{FF2B5EF4-FFF2-40B4-BE49-F238E27FC236}">
                <a16:creationId xmlns:a16="http://schemas.microsoft.com/office/drawing/2014/main" id="{969A5CA7-FE8B-708A-1278-1D27FE8D385E}"/>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US" smtClean="0"/>
              <a:t>5</a:t>
            </a:fld>
            <a:endParaRPr lang="en-US"/>
          </a:p>
        </p:txBody>
      </p:sp>
    </p:spTree>
    <p:extLst>
      <p:ext uri="{BB962C8B-B14F-4D97-AF65-F5344CB8AC3E}">
        <p14:creationId xmlns:p14="http://schemas.microsoft.com/office/powerpoint/2010/main" val="27669107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10166-86B4-0CDE-7583-0E584C03DB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58AD64-41A7-2E69-E0DC-099CB69A256D}"/>
              </a:ext>
            </a:extLst>
          </p:cNvPr>
          <p:cNvSpPr>
            <a:spLocks noGrp="1"/>
          </p:cNvSpPr>
          <p:nvPr>
            <p:ph type="title"/>
          </p:nvPr>
        </p:nvSpPr>
        <p:spPr/>
        <p:txBody>
          <a:bodyPr/>
          <a:lstStyle/>
          <a:p>
            <a:r>
              <a:rPr lang="en-US" dirty="0"/>
              <a:t>FANN charter text discussion</a:t>
            </a:r>
            <a:br>
              <a:rPr lang="en-US" dirty="0"/>
            </a:br>
            <a:r>
              <a:rPr lang="en-US" dirty="0"/>
              <a:t>Scope </a:t>
            </a:r>
          </a:p>
        </p:txBody>
      </p:sp>
      <p:sp>
        <p:nvSpPr>
          <p:cNvPr id="3" name="Text Placeholder 2">
            <a:extLst>
              <a:ext uri="{FF2B5EF4-FFF2-40B4-BE49-F238E27FC236}">
                <a16:creationId xmlns:a16="http://schemas.microsoft.com/office/drawing/2014/main" id="{9D92361F-AD4A-B5D3-AF6E-51EB89113D49}"/>
              </a:ext>
            </a:extLst>
          </p:cNvPr>
          <p:cNvSpPr>
            <a:spLocks noGrp="1"/>
          </p:cNvSpPr>
          <p:nvPr>
            <p:ph type="body" idx="1"/>
          </p:nvPr>
        </p:nvSpPr>
        <p:spPr/>
        <p:txBody>
          <a:bodyPr/>
          <a:lstStyle/>
          <a:p>
            <a:pPr marL="114300" indent="0">
              <a:buNone/>
            </a:pPr>
            <a:r>
              <a:rPr lang="en-US" sz="1050" dirty="0"/>
              <a:t>The network condition data that may be advertised using fast network notifications includes link failure, link congestion, SLA violations, and queue build-up etc. An information model may be defined to structure the network condition data in a standardized way for effective dissemination and actions.</a:t>
            </a:r>
          </a:p>
          <a:p>
            <a:pPr marL="114300" indent="0">
              <a:buNone/>
            </a:pPr>
            <a:endParaRPr lang="en-US" sz="1050" dirty="0"/>
          </a:p>
          <a:p>
            <a:pPr marL="114300" indent="0">
              <a:buNone/>
            </a:pPr>
            <a:r>
              <a:rPr lang="en-US" sz="1050" dirty="0"/>
              <a:t>The fast network notifications may be used in network scenarios including Data Center Networks (DCN) and Wide Area Networks (WAN) which provide inter-connection between multiple data centers. The specific protocols and mechanisms may be different to meet the requirements in different network scenarios.</a:t>
            </a:r>
          </a:p>
          <a:p>
            <a:pPr marL="114300" indent="0">
              <a:buNone/>
            </a:pPr>
            <a:endParaRPr lang="en-US" sz="1050" dirty="0"/>
          </a:p>
          <a:p>
            <a:pPr marL="114300" indent="0">
              <a:buNone/>
            </a:pPr>
            <a:r>
              <a:rPr lang="en-US" sz="1050" dirty="0"/>
              <a:t>It is considered that the protocols and mechanisms of fast network notifications can be applied to different data plane technologies in layer-3 (e.g. IPv4, IPv6, SRv6 and MPLS), and the mechanisms can be useful for the management of both the TE traffic and the traffic which takes the shortest paths. </a:t>
            </a:r>
          </a:p>
          <a:p>
            <a:pPr marL="114300" indent="0">
              <a:buNone/>
            </a:pPr>
            <a:endParaRPr lang="en-US" sz="1050" dirty="0"/>
          </a:p>
          <a:p>
            <a:pPr marL="114300" indent="0">
              <a:buNone/>
            </a:pPr>
            <a:r>
              <a:rPr lang="en-US" sz="1050" dirty="0"/>
              <a:t>The FANN WG will identify the threat models for fast network notifications, and will address the security considerations introduced by the protocols it define. </a:t>
            </a:r>
          </a:p>
          <a:p>
            <a:pPr marL="114300" indent="0">
              <a:buNone/>
            </a:pPr>
            <a:endParaRPr lang="en-US" sz="1050" dirty="0"/>
          </a:p>
          <a:p>
            <a:pPr marL="114300" indent="0">
              <a:buNone/>
            </a:pPr>
            <a:r>
              <a:rPr lang="en-US" sz="1050" dirty="0"/>
              <a:t>The mechanisms for detecting network condition changes and the specific mechanisms for acting upon receiving the fast notifications are out of scope.</a:t>
            </a:r>
          </a:p>
        </p:txBody>
      </p:sp>
      <p:sp>
        <p:nvSpPr>
          <p:cNvPr id="4" name="Slide Number Placeholder 3">
            <a:extLst>
              <a:ext uri="{FF2B5EF4-FFF2-40B4-BE49-F238E27FC236}">
                <a16:creationId xmlns:a16="http://schemas.microsoft.com/office/drawing/2014/main" id="{0D977B2E-B90A-8C3A-42DD-E3E020CE0998}"/>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US" smtClean="0"/>
              <a:t>6</a:t>
            </a:fld>
            <a:endParaRPr lang="en-US"/>
          </a:p>
        </p:txBody>
      </p:sp>
    </p:spTree>
    <p:extLst>
      <p:ext uri="{BB962C8B-B14F-4D97-AF65-F5344CB8AC3E}">
        <p14:creationId xmlns:p14="http://schemas.microsoft.com/office/powerpoint/2010/main" val="31868112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2BBBD8-0ED3-7083-7655-A60AAEA5A5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FCDFE8-C443-21F0-7CD2-9A189ED5B5E9}"/>
              </a:ext>
            </a:extLst>
          </p:cNvPr>
          <p:cNvSpPr>
            <a:spLocks noGrp="1"/>
          </p:cNvSpPr>
          <p:nvPr>
            <p:ph type="title"/>
          </p:nvPr>
        </p:nvSpPr>
        <p:spPr/>
        <p:txBody>
          <a:bodyPr/>
          <a:lstStyle/>
          <a:p>
            <a:r>
              <a:rPr lang="en-US" dirty="0"/>
              <a:t>FANN charter text discussion</a:t>
            </a:r>
            <a:br>
              <a:rPr lang="en-US" dirty="0"/>
            </a:br>
            <a:r>
              <a:rPr lang="en-US" dirty="0"/>
              <a:t>Work Items </a:t>
            </a:r>
          </a:p>
        </p:txBody>
      </p:sp>
      <p:sp>
        <p:nvSpPr>
          <p:cNvPr id="3" name="Text Placeholder 2">
            <a:extLst>
              <a:ext uri="{FF2B5EF4-FFF2-40B4-BE49-F238E27FC236}">
                <a16:creationId xmlns:a16="http://schemas.microsoft.com/office/drawing/2014/main" id="{41A7E2FC-BFA3-98EF-7D05-633E71D1AA09}"/>
              </a:ext>
            </a:extLst>
          </p:cNvPr>
          <p:cNvSpPr>
            <a:spLocks noGrp="1"/>
          </p:cNvSpPr>
          <p:nvPr>
            <p:ph type="body" idx="1"/>
          </p:nvPr>
        </p:nvSpPr>
        <p:spPr>
          <a:xfrm>
            <a:off x="325354" y="1794600"/>
            <a:ext cx="8066400" cy="2710125"/>
          </a:xfrm>
        </p:spPr>
        <p:txBody>
          <a:bodyPr/>
          <a:lstStyle/>
          <a:p>
            <a:pPr marL="114300" indent="0">
              <a:buNone/>
            </a:pPr>
            <a:r>
              <a:rPr lang="en-US" sz="1000" dirty="0"/>
              <a:t>The WG will produce documents to address the following points:</a:t>
            </a:r>
          </a:p>
          <a:p>
            <a:pPr>
              <a:buSzPct val="100000"/>
            </a:pPr>
            <a:r>
              <a:rPr lang="en-US" sz="1000" dirty="0"/>
              <a:t>Requirements and Gap Analysis</a:t>
            </a:r>
          </a:p>
          <a:p>
            <a:pPr lvl="1">
              <a:spcBef>
                <a:spcPts val="0"/>
              </a:spcBef>
              <a:buSzPct val="100000"/>
            </a:pPr>
            <a:r>
              <a:rPr lang="en-US" sz="1000" dirty="0"/>
              <a:t>Provide the definition of "fast network notification".</a:t>
            </a:r>
          </a:p>
          <a:p>
            <a:pPr lvl="1">
              <a:spcBef>
                <a:spcPts val="0"/>
              </a:spcBef>
              <a:buSzPct val="100000"/>
            </a:pPr>
            <a:r>
              <a:rPr lang="en-US" sz="1000" dirty="0"/>
              <a:t>Consider use cases where fast network notification can significantly improve the effect and efficiency of traffic management mechanisms.</a:t>
            </a:r>
          </a:p>
          <a:p>
            <a:pPr lvl="1">
              <a:spcBef>
                <a:spcPts val="0"/>
              </a:spcBef>
              <a:buSzPct val="100000"/>
            </a:pPr>
            <a:r>
              <a:rPr lang="en-US" sz="1000" dirty="0"/>
              <a:t>For each use case, describe the requirements on the information needed, the time scale of the notification, and the actions to be performed.</a:t>
            </a:r>
          </a:p>
          <a:p>
            <a:pPr lvl="1">
              <a:spcBef>
                <a:spcPts val="0"/>
              </a:spcBef>
              <a:buSzPct val="100000"/>
            </a:pPr>
            <a:r>
              <a:rPr lang="en-US" sz="1000" dirty="0"/>
              <a:t>Identify the gaps for fast network notification mechanisms.  </a:t>
            </a:r>
          </a:p>
          <a:p>
            <a:pPr>
              <a:buSzPct val="100000"/>
            </a:pPr>
            <a:r>
              <a:rPr lang="en-US" sz="1000" dirty="0"/>
              <a:t>Define an Information Model of fast network notifications</a:t>
            </a:r>
          </a:p>
          <a:p>
            <a:pPr lvl="1">
              <a:spcBef>
                <a:spcPts val="0"/>
              </a:spcBef>
              <a:buSzPct val="100000"/>
            </a:pPr>
            <a:r>
              <a:rPr lang="en-US" sz="1000" dirty="0"/>
              <a:t>Develop an Information Model that structures real-time network condition data in a standardized way for effective dissemination and actions.</a:t>
            </a:r>
          </a:p>
          <a:p>
            <a:pPr lvl="1">
              <a:spcBef>
                <a:spcPts val="0"/>
              </a:spcBef>
              <a:buSzPct val="100000"/>
            </a:pPr>
            <a:r>
              <a:rPr lang="en-US" sz="1000" dirty="0"/>
              <a:t>Define the requirements of the data needed for functions/actions including but not limited to traffic engineering, load balancing, flow control and protection switching.</a:t>
            </a:r>
          </a:p>
          <a:p>
            <a:pPr>
              <a:buSzPct val="100000"/>
            </a:pPr>
            <a:r>
              <a:rPr lang="en-US" sz="1000" dirty="0"/>
              <a:t>Develop Fast Network Notification protocols and the related mechanisms</a:t>
            </a:r>
          </a:p>
          <a:p>
            <a:pPr lvl="1">
              <a:spcBef>
                <a:spcPts val="0"/>
              </a:spcBef>
              <a:buSzPct val="100000"/>
            </a:pPr>
            <a:r>
              <a:rPr lang="en-US" sz="1000" dirty="0"/>
              <a:t>Specify the fast network notification protocols and mechanisms that allow network nodes that may take response actions to learn quickly about network conditions. Different protocols may be defined to meet the requirements in different network scenarios. </a:t>
            </a:r>
          </a:p>
          <a:p>
            <a:pPr marL="114300" indent="0">
              <a:buNone/>
            </a:pPr>
            <a:endParaRPr lang="en-US" sz="1000" dirty="0"/>
          </a:p>
          <a:p>
            <a:pPr marL="114300" indent="0">
              <a:buNone/>
            </a:pPr>
            <a:endParaRPr lang="en-US" sz="1000" dirty="0"/>
          </a:p>
        </p:txBody>
      </p:sp>
      <p:sp>
        <p:nvSpPr>
          <p:cNvPr id="4" name="Slide Number Placeholder 3">
            <a:extLst>
              <a:ext uri="{FF2B5EF4-FFF2-40B4-BE49-F238E27FC236}">
                <a16:creationId xmlns:a16="http://schemas.microsoft.com/office/drawing/2014/main" id="{52523384-6106-62AE-FCAD-5E6C7798A97F}"/>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US" smtClean="0"/>
              <a:t>7</a:t>
            </a:fld>
            <a:endParaRPr lang="en-US"/>
          </a:p>
        </p:txBody>
      </p:sp>
    </p:spTree>
    <p:extLst>
      <p:ext uri="{BB962C8B-B14F-4D97-AF65-F5344CB8AC3E}">
        <p14:creationId xmlns:p14="http://schemas.microsoft.com/office/powerpoint/2010/main" val="34905643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4CE7DC-46E8-EB7A-A15E-96F2475CB1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4F7534-EFC9-B46F-36B0-8AA5547AD9E8}"/>
              </a:ext>
            </a:extLst>
          </p:cNvPr>
          <p:cNvSpPr>
            <a:spLocks noGrp="1"/>
          </p:cNvSpPr>
          <p:nvPr>
            <p:ph type="title"/>
          </p:nvPr>
        </p:nvSpPr>
        <p:spPr/>
        <p:txBody>
          <a:bodyPr/>
          <a:lstStyle/>
          <a:p>
            <a:r>
              <a:rPr lang="en-US" dirty="0"/>
              <a:t>FANN charter text discussion</a:t>
            </a:r>
            <a:br>
              <a:rPr lang="en-US" dirty="0"/>
            </a:br>
            <a:r>
              <a:rPr lang="en-US" dirty="0"/>
              <a:t>Collaborations </a:t>
            </a:r>
          </a:p>
        </p:txBody>
      </p:sp>
      <p:sp>
        <p:nvSpPr>
          <p:cNvPr id="3" name="Text Placeholder 2">
            <a:extLst>
              <a:ext uri="{FF2B5EF4-FFF2-40B4-BE49-F238E27FC236}">
                <a16:creationId xmlns:a16="http://schemas.microsoft.com/office/drawing/2014/main" id="{119A45EE-0344-ECD2-29B9-FFD5118DAC02}"/>
              </a:ext>
            </a:extLst>
          </p:cNvPr>
          <p:cNvSpPr>
            <a:spLocks noGrp="1"/>
          </p:cNvSpPr>
          <p:nvPr>
            <p:ph type="body" idx="1"/>
          </p:nvPr>
        </p:nvSpPr>
        <p:spPr/>
        <p:txBody>
          <a:bodyPr/>
          <a:lstStyle/>
          <a:p>
            <a:pPr marL="114300" indent="0">
              <a:buNone/>
            </a:pPr>
            <a:r>
              <a:rPr lang="en-US" sz="1050" dirty="0"/>
              <a:t>The FANN WG will collaborate closely with the TEAS WG to define the data needed for actions of traffic engineering mechanisms. It will collaborate with RTGWG for actions of Fast Reroute (FRR) and other protection mechanisms. It may collaborate with IDR and LSR WGs for the data needed by BGP and the IGPs. As needed, the WG will also coordinate with other relevant groups to communicate potential needs related to detection and data collection.</a:t>
            </a:r>
          </a:p>
        </p:txBody>
      </p:sp>
      <p:sp>
        <p:nvSpPr>
          <p:cNvPr id="4" name="Slide Number Placeholder 3">
            <a:extLst>
              <a:ext uri="{FF2B5EF4-FFF2-40B4-BE49-F238E27FC236}">
                <a16:creationId xmlns:a16="http://schemas.microsoft.com/office/drawing/2014/main" id="{A36AEA7F-3374-9309-9AB8-BB18B23103B3}"/>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US" smtClean="0"/>
              <a:t>8</a:t>
            </a:fld>
            <a:endParaRPr lang="en-US"/>
          </a:p>
        </p:txBody>
      </p:sp>
    </p:spTree>
    <p:extLst>
      <p:ext uri="{BB962C8B-B14F-4D97-AF65-F5344CB8AC3E}">
        <p14:creationId xmlns:p14="http://schemas.microsoft.com/office/powerpoint/2010/main" val="1529465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A6CC-3F0E-4271-B01F-5FDC554B2A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7A217E-1F63-F22E-47EF-529A2F51477F}"/>
              </a:ext>
            </a:extLst>
          </p:cNvPr>
          <p:cNvSpPr>
            <a:spLocks noGrp="1"/>
          </p:cNvSpPr>
          <p:nvPr>
            <p:ph type="title"/>
          </p:nvPr>
        </p:nvSpPr>
        <p:spPr/>
        <p:txBody>
          <a:bodyPr/>
          <a:lstStyle/>
          <a:p>
            <a:r>
              <a:rPr lang="en-US" dirty="0"/>
              <a:t>Acknowledgements</a:t>
            </a:r>
          </a:p>
        </p:txBody>
      </p:sp>
      <p:sp>
        <p:nvSpPr>
          <p:cNvPr id="4" name="Slide Number Placeholder 3">
            <a:extLst>
              <a:ext uri="{FF2B5EF4-FFF2-40B4-BE49-F238E27FC236}">
                <a16:creationId xmlns:a16="http://schemas.microsoft.com/office/drawing/2014/main" id="{D352032F-3F3B-B75A-E937-3D05E41AEE62}"/>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US" smtClean="0"/>
              <a:t>9</a:t>
            </a:fld>
            <a:endParaRPr lang="en-US"/>
          </a:p>
        </p:txBody>
      </p:sp>
      <p:sp>
        <p:nvSpPr>
          <p:cNvPr id="6" name="Text Placeholder 5">
            <a:extLst>
              <a:ext uri="{FF2B5EF4-FFF2-40B4-BE49-F238E27FC236}">
                <a16:creationId xmlns:a16="http://schemas.microsoft.com/office/drawing/2014/main" id="{66FA077B-8A48-942A-00C5-E6BCC4EB33BB}"/>
              </a:ext>
            </a:extLst>
          </p:cNvPr>
          <p:cNvSpPr>
            <a:spLocks noGrp="1"/>
          </p:cNvSpPr>
          <p:nvPr>
            <p:ph type="body" idx="1"/>
          </p:nvPr>
        </p:nvSpPr>
        <p:spPr>
          <a:xfrm>
            <a:off x="538800" y="1802552"/>
            <a:ext cx="8066400" cy="2710125"/>
          </a:xfrm>
        </p:spPr>
        <p:txBody>
          <a:bodyPr/>
          <a:lstStyle/>
          <a:p>
            <a:r>
              <a:rPr lang="en-US" dirty="0"/>
              <a:t>Thanks to Adrian Farrel, </a:t>
            </a:r>
            <a:r>
              <a:rPr lang="en-CA" dirty="0"/>
              <a:t>Joel Halpern</a:t>
            </a:r>
            <a:r>
              <a:rPr lang="en-US" dirty="0"/>
              <a:t>, </a:t>
            </a:r>
            <a:r>
              <a:rPr lang="en-CA" dirty="0"/>
              <a:t>Tal Mizrahi </a:t>
            </a:r>
            <a:r>
              <a:rPr lang="en-US" dirty="0"/>
              <a:t>, </a:t>
            </a:r>
            <a:r>
              <a:rPr lang="en-CA" dirty="0" err="1"/>
              <a:t>Yongqing</a:t>
            </a:r>
            <a:r>
              <a:rPr lang="en-CA" dirty="0"/>
              <a:t> Zhu, Carlos Jesus Bernardos </a:t>
            </a:r>
            <a:r>
              <a:rPr lang="en-CA" dirty="0" err="1"/>
              <a:t>Cano</a:t>
            </a:r>
            <a:r>
              <a:rPr lang="en-CA" dirty="0"/>
              <a:t>, Jiayuan Hu, et al.,  </a:t>
            </a:r>
            <a:r>
              <a:rPr lang="en-US" dirty="0"/>
              <a:t>for the review of the Charter text on the mailing list</a:t>
            </a:r>
          </a:p>
          <a:p>
            <a:r>
              <a:rPr lang="en-US" dirty="0"/>
              <a:t>Thanks to Jie Dong for addressing many review comments received – updates are work in progress</a:t>
            </a:r>
          </a:p>
        </p:txBody>
      </p:sp>
    </p:spTree>
    <p:extLst>
      <p:ext uri="{BB962C8B-B14F-4D97-AF65-F5344CB8AC3E}">
        <p14:creationId xmlns:p14="http://schemas.microsoft.com/office/powerpoint/2010/main" val="34623642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C670B1-77A7-74E1-58C1-E1CCA0B458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128357-13A2-3385-7B4A-F61FECE650DE}"/>
              </a:ext>
            </a:extLst>
          </p:cNvPr>
          <p:cNvSpPr>
            <a:spLocks noGrp="1"/>
          </p:cNvSpPr>
          <p:nvPr>
            <p:ph type="title"/>
          </p:nvPr>
        </p:nvSpPr>
        <p:spPr/>
        <p:txBody>
          <a:bodyPr/>
          <a:lstStyle/>
          <a:p>
            <a:r>
              <a:rPr lang="en-US" dirty="0"/>
              <a:t>Next Steps</a:t>
            </a:r>
          </a:p>
        </p:txBody>
      </p:sp>
      <p:sp>
        <p:nvSpPr>
          <p:cNvPr id="4" name="Slide Number Placeholder 3">
            <a:extLst>
              <a:ext uri="{FF2B5EF4-FFF2-40B4-BE49-F238E27FC236}">
                <a16:creationId xmlns:a16="http://schemas.microsoft.com/office/drawing/2014/main" id="{87396253-4D54-02CB-0E91-E4EEADC85EB0}"/>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US" smtClean="0"/>
              <a:t>10</a:t>
            </a:fld>
            <a:endParaRPr lang="en-US"/>
          </a:p>
        </p:txBody>
      </p:sp>
      <p:sp>
        <p:nvSpPr>
          <p:cNvPr id="6" name="Text Placeholder 5">
            <a:extLst>
              <a:ext uri="{FF2B5EF4-FFF2-40B4-BE49-F238E27FC236}">
                <a16:creationId xmlns:a16="http://schemas.microsoft.com/office/drawing/2014/main" id="{D788F5EE-70AE-14BF-B311-98370FED5ABC}"/>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15187763"/>
      </p:ext>
    </p:extLst>
  </p:cSld>
  <p:clrMapOvr>
    <a:masterClrMapping/>
  </p:clrMapOvr>
</p:sld>
</file>

<file path=ppt/theme/theme1.xml><?xml version="1.0" encoding="utf-8"?>
<a:theme xmlns:a="http://schemas.openxmlformats.org/drawingml/2006/main" name="Material">
  <a:themeElements>
    <a:clrScheme name="Material">
      <a:dk1>
        <a:srgbClr val="002D3C"/>
      </a:dk1>
      <a:lt1>
        <a:srgbClr val="4285F4"/>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IETF Template">
  <a:themeElements>
    <a:clrScheme name="Material">
      <a:dk1>
        <a:srgbClr val="4285F4"/>
      </a:dk1>
      <a:lt1>
        <a:srgbClr val="FFFFFF"/>
      </a:lt1>
      <a:dk2>
        <a:srgbClr val="424242"/>
      </a:dk2>
      <a:lt2>
        <a:srgbClr val="737373"/>
      </a:lt2>
      <a:accent1>
        <a:srgbClr val="0277BD"/>
      </a:accent1>
      <a:accent2>
        <a:srgbClr val="0F9D58"/>
      </a:accent2>
      <a:accent3>
        <a:srgbClr val="DB4437"/>
      </a:accent3>
      <a:accent4>
        <a:srgbClr val="FAFAFA"/>
      </a:accent4>
      <a:accent5>
        <a:srgbClr val="4FC3F7"/>
      </a:accent5>
      <a:accent6>
        <a:srgbClr val="F4B400"/>
      </a:accent6>
      <a:hlink>
        <a:srgbClr val="4FC3F7"/>
      </a:hlink>
      <a:folHlink>
        <a:srgbClr val="4FC3F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Material">
  <a:themeElements>
    <a:clrScheme name="Material">
      <a:dk1>
        <a:srgbClr val="000000"/>
      </a:dk1>
      <a:lt1>
        <a:srgbClr val="FFFFFF"/>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c8f49a32-fde3-48a5-9266-b5b0972a22dc}" enabled="1" method="Standard" siteId="{5ae1af62-9505-4097-a69a-c1553ef7840e}" contentBits="2" removed="0"/>
</clbl:labelList>
</file>

<file path=docProps/app.xml><?xml version="1.0" encoding="utf-8"?>
<Properties xmlns="http://schemas.openxmlformats.org/officeDocument/2006/extended-properties" xmlns:vt="http://schemas.openxmlformats.org/officeDocument/2006/docPropsVTypes">
  <TotalTime>86</TotalTime>
  <Words>1302</Words>
  <Application>Microsoft Macintosh PowerPoint</Application>
  <PresentationFormat>On-screen Show (16:9)</PresentationFormat>
  <Paragraphs>82</Paragraphs>
  <Slides>10</Slides>
  <Notes>2</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10</vt:i4>
      </vt:variant>
    </vt:vector>
  </HeadingPairs>
  <TitlesOfParts>
    <vt:vector size="20" baseType="lpstr">
      <vt:lpstr>Inter</vt:lpstr>
      <vt:lpstr>Open Sans</vt:lpstr>
      <vt:lpstr>Montserrat</vt:lpstr>
      <vt:lpstr>Open Sans SemiBold</vt:lpstr>
      <vt:lpstr>Open Sans Medium</vt:lpstr>
      <vt:lpstr>Arial</vt:lpstr>
      <vt:lpstr>Roboto</vt:lpstr>
      <vt:lpstr>Aptos</vt:lpstr>
      <vt:lpstr>Material</vt:lpstr>
      <vt:lpstr>IETF Template</vt:lpstr>
      <vt:lpstr>IETF 125</vt:lpstr>
      <vt:lpstr>Note Well</vt:lpstr>
      <vt:lpstr>Agenda</vt:lpstr>
      <vt:lpstr>Proposed name and materials</vt:lpstr>
      <vt:lpstr>FANN charter text discussion Overview </vt:lpstr>
      <vt:lpstr>FANN charter text discussion Scope </vt:lpstr>
      <vt:lpstr>FANN charter text discussion Work Items </vt:lpstr>
      <vt:lpstr>FANN charter text discussion Collaborations </vt:lpstr>
      <vt:lpstr>Acknowledgements</vt:lpstr>
      <vt:lpstr>Next Steps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Rakesh Gandhi (rgandhi)</cp:lastModifiedBy>
  <cp:revision>7</cp:revision>
  <dcterms:modified xsi:type="dcterms:W3CDTF">2026-03-16T04:28:47Z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Material:3\IETF Template:3</vt:lpwstr>
  </property>
  <property fmtid="{D5CDD505-2E9C-101B-9397-08002B2CF9AE}" pid="3" name="ClassificationContentMarkingFooterText">
    <vt:lpwstr>Cisco Confidential</vt:lpwstr>
  </property>
</Properties>
</file>