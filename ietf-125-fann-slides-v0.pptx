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1"/>
    <p:sldMasterId id="2147483665"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9144000" cy="5143500" type="screen16x9"/>
  <p:notesSz cx="6858000" cy="9144000"/>
  <p:embeddedFontLst>
    <p:embeddedFont>
      <p:font typeface="Inter" panose="02000503000000020004" pitchFamily="2" charset="0"/>
      <p:regular r:id="rId13"/>
      <p:bold r:id="rId14"/>
      <p:italic r:id="rId15"/>
      <p:boldItalic r:id="rId16"/>
    </p:embeddedFont>
    <p:embeddedFont>
      <p:font typeface="Montserrat" pitchFamily="2" charset="77"/>
      <p:regular r:id="rId17"/>
      <p:bold r:id="rId18"/>
      <p:italic r:id="rId19"/>
      <p:boldItalic r:id="rId20"/>
    </p:embeddedFont>
    <p:embeddedFont>
      <p:font typeface="Open Sans" panose="020B0606030504020204" pitchFamily="34" charset="0"/>
      <p:regular r:id="rId21"/>
      <p:bold r:id="rId22"/>
      <p:italic r:id="rId23"/>
      <p:boldItalic r:id="rId24"/>
    </p:embeddedFont>
    <p:embeddedFont>
      <p:font typeface="Open Sans Medium" pitchFamily="2" charset="0"/>
      <p:regular r:id="rId25"/>
      <p:bold r:id="rId26"/>
      <p:italic r:id="rId27"/>
      <p:boldItalic r:id="rId28"/>
    </p:embeddedFont>
    <p:embeddedFont>
      <p:font typeface="Open Sans SemiBold" panose="020B0706030804020204" pitchFamily="34" charset="0"/>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4D0445-0F65-5049-8A5A-3444589DB2CD}" v="2" dt="2026-03-12T14:39:48.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openxmlformats.org/officeDocument/2006/relationships/theme" Target="theme/theme1.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8.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mailarchive.ietf.org/arch/browse/fantel/" TargetMode="External"/><Relationship Id="rId2" Type="http://schemas.openxmlformats.org/officeDocument/2006/relationships/hyperlink" Target="mailto:fantel@ietf.org" TargetMode="External"/><Relationship Id="rId1" Type="http://schemas.openxmlformats.org/officeDocument/2006/relationships/slideLayout" Target="../slideLayouts/slideLayout8.xml"/><Relationship Id="rId6" Type="http://schemas.openxmlformats.org/officeDocument/2006/relationships/hyperlink" Target="https://github.com/Yingzhen-ietf/FANN-charter/" TargetMode="External"/><Relationship Id="rId5" Type="http://schemas.openxmlformats.org/officeDocument/2006/relationships/hyperlink" Target="https://github.com/ietf-wg-rtgwg/draft-ietf-rtgwg-net-notif-ps" TargetMode="External"/><Relationship Id="rId4" Type="http://schemas.openxmlformats.org/officeDocument/2006/relationships/hyperlink" Target="https://datatracker.ietf.org/doc/draft-ietf-rtgwg-net-notif-p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25</a:t>
            </a:r>
            <a:endParaRPr sz="3600" dirty="0">
              <a:latin typeface="Inter"/>
              <a:ea typeface="Inter"/>
              <a:cs typeface="Inter"/>
              <a:sym typeface="Inter"/>
            </a:endParaRP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16 March 2026</a:t>
            </a:r>
            <a:endParaRPr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Internet Engineering Task Force</a:t>
            </a:r>
            <a:endParaRPr sz="1200">
              <a:latin typeface="Inter"/>
              <a:ea typeface="Inter"/>
              <a:cs typeface="Inter"/>
              <a:sym typeface="Inter"/>
            </a:endParaRPr>
          </a:p>
          <a:p>
            <a:pPr marL="0" lvl="0" indent="0" algn="l" rtl="0">
              <a:spcBef>
                <a:spcPts val="0"/>
              </a:spcBef>
              <a:spcAft>
                <a:spcPts val="0"/>
              </a:spcAft>
              <a:buNone/>
            </a:pPr>
            <a:r>
              <a:rPr lang="en-US" sz="1200">
                <a:latin typeface="Inter"/>
                <a:ea typeface="Inter"/>
                <a:cs typeface="Inter"/>
                <a:sym typeface="Inter"/>
              </a:rPr>
              <a:t>© 2026 IETF Trust </a:t>
            </a:r>
            <a:endParaRPr sz="1200">
              <a:latin typeface="Inter"/>
              <a:ea typeface="Inter"/>
              <a:cs typeface="Inter"/>
              <a:sym typeface="Inter"/>
            </a:endParaRPr>
          </a:p>
          <a:p>
            <a:pPr marL="0" lvl="0" indent="0" algn="l" rtl="0">
              <a:spcBef>
                <a:spcPts val="0"/>
              </a:spcBef>
              <a:spcAft>
                <a:spcPts val="0"/>
              </a:spcAft>
              <a:buNone/>
            </a:pPr>
            <a:r>
              <a:rPr lang="en-US" sz="1200">
                <a:latin typeface="Inter"/>
                <a:ea typeface="Inter"/>
                <a:cs typeface="Inter"/>
                <a:sym typeface="Inter"/>
              </a:rPr>
              <a:t>Production by Meetecho</a:t>
            </a:r>
            <a:endParaRPr sz="120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FANN (FANTEL) side meeting</a:t>
            </a:r>
            <a:endParaRPr sz="2400" dirty="0">
              <a:solidFill>
                <a:srgbClr val="FFF2CC"/>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p:nvPr/>
        </p:nvSpPr>
        <p:spPr>
          <a:xfrm>
            <a:off x="311700" y="740175"/>
            <a:ext cx="8561400" cy="4100700"/>
          </a:xfrm>
          <a:prstGeom prst="rect">
            <a:avLst/>
          </a:prstGeom>
          <a:noFill/>
          <a:ln>
            <a:noFill/>
          </a:ln>
        </p:spPr>
        <p:txBody>
          <a:bodyPr spcFirstLastPara="1" wrap="square" lIns="91400" tIns="45700" rIns="91400" bIns="45700" anchor="t" anchorCtr="0">
            <a:noAutofit/>
          </a:bodyPr>
          <a:lstStyle/>
          <a:p>
            <a:pPr marL="0" lvl="0" indent="0" algn="l" rtl="0">
              <a:lnSpc>
                <a:spcPct val="115000"/>
              </a:lnSpc>
              <a:spcBef>
                <a:spcPts val="0"/>
              </a:spcBef>
              <a:spcAft>
                <a:spcPts val="1000"/>
              </a:spcAft>
              <a:buNone/>
            </a:pPr>
            <a:r>
              <a:rPr lang="en-US" sz="1200">
                <a:solidFill>
                  <a:srgbClr val="000000"/>
                </a:solidFill>
                <a:latin typeface="Inter"/>
                <a:ea typeface="Inter"/>
                <a:cs typeface="Inter"/>
                <a:sym typeface="Inter"/>
              </a:rPr>
              <a:t>By participating in the IETF you agree to follow IETF processes and policies. This Note Well is a reminder </a:t>
            </a:r>
            <a:r>
              <a:rPr lang="en-US" sz="1200">
                <a:latin typeface="Inter"/>
                <a:ea typeface="Inter"/>
                <a:cs typeface="Inter"/>
                <a:sym typeface="Inter"/>
              </a:rPr>
              <a:t> </a:t>
            </a:r>
            <a:r>
              <a:rPr lang="en-US" sz="1200">
                <a:solidFill>
                  <a:srgbClr val="000000"/>
                </a:solidFill>
                <a:latin typeface="Inter"/>
                <a:ea typeface="Inter"/>
                <a:cs typeface="Inter"/>
                <a:sym typeface="Inter"/>
              </a:rPr>
              <a:t>of some of those policies. For a linked version of this text, please visit </a:t>
            </a:r>
            <a:r>
              <a:rPr lang="en-US" sz="1200" b="1">
                <a:solidFill>
                  <a:srgbClr val="000000"/>
                </a:solidFill>
                <a:latin typeface="Inter"/>
                <a:ea typeface="Inter"/>
                <a:cs typeface="Inter"/>
                <a:sym typeface="Inter"/>
              </a:rPr>
              <a:t>www.ietf.org/note-well </a:t>
            </a:r>
            <a:r>
              <a:rPr lang="en-US" sz="1200">
                <a:solidFill>
                  <a:srgbClr val="000000"/>
                </a:solidFill>
                <a:latin typeface="Inter"/>
                <a:ea typeface="Inter"/>
                <a:cs typeface="Inter"/>
                <a:sym typeface="Inter"/>
              </a:rPr>
              <a:t>or use the QR code below</a:t>
            </a:r>
            <a:endParaRPr sz="1200">
              <a:solidFill>
                <a:srgbClr val="434343"/>
              </a:solidFill>
              <a:latin typeface="Inter"/>
              <a:ea typeface="Inter"/>
              <a:cs typeface="Inter"/>
              <a:sym typeface="Inter"/>
            </a:endParaRPr>
          </a:p>
        </p:txBody>
      </p:sp>
      <p:sp>
        <p:nvSpPr>
          <p:cNvPr id="108" name="Google Shape;108;p20"/>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109" name="Google Shape;109;p20"/>
          <p:cNvSpPr txBox="1"/>
          <p:nvPr/>
        </p:nvSpPr>
        <p:spPr>
          <a:xfrm>
            <a:off x="311700" y="1282025"/>
            <a:ext cx="7584300" cy="3346500"/>
          </a:xfrm>
          <a:prstGeom prst="rect">
            <a:avLst/>
          </a:prstGeom>
          <a:noFill/>
          <a:ln>
            <a:noFill/>
          </a:ln>
        </p:spPr>
        <p:txBody>
          <a:bodyPr spcFirstLastPara="1" wrap="square" lIns="91400" tIns="45700" rIns="91400" bIns="45700" anchor="t" anchorCtr="0">
            <a:noAutofit/>
          </a:bodyPr>
          <a:lstStyle/>
          <a:p>
            <a:pPr marL="457200" lvl="0" indent="-304800" algn="l" rtl="0">
              <a:lnSpc>
                <a:spcPct val="115000"/>
              </a:lnSpc>
              <a:spcBef>
                <a:spcPts val="0"/>
              </a:spcBef>
              <a:spcAft>
                <a:spcPts val="0"/>
              </a:spcAft>
              <a:buClr>
                <a:srgbClr val="000000"/>
              </a:buClr>
              <a:buSzPts val="1200"/>
              <a:buFont typeface="Inter"/>
              <a:buChar char="●"/>
            </a:pPr>
            <a:r>
              <a:rPr lang="en-US" sz="1200">
                <a:solidFill>
                  <a:srgbClr val="000000"/>
                </a:solidFill>
                <a:latin typeface="Inter"/>
                <a:ea typeface="Inter"/>
                <a:cs typeface="Inter"/>
                <a:sym typeface="Inter"/>
              </a:rPr>
              <a:t>IETF participants are expected to behave in a professional manner and extend respect and courtesy to their colleagues at all times (see </a:t>
            </a:r>
            <a:r>
              <a:rPr lang="en-US" sz="1200" b="1">
                <a:solidFill>
                  <a:srgbClr val="000000"/>
                </a:solidFill>
                <a:latin typeface="Inter"/>
                <a:ea typeface="Inter"/>
                <a:cs typeface="Inter"/>
                <a:sym typeface="Inter"/>
              </a:rPr>
              <a:t>RFC 7154: IETF Guidelines for Conduct and IETF Anti-Harassment Policy</a:t>
            </a:r>
            <a:r>
              <a:rPr lang="en-US" sz="1200">
                <a:solidFill>
                  <a:srgbClr val="000000"/>
                </a:solidFill>
                <a:latin typeface="Inter"/>
                <a:ea typeface="Inter"/>
                <a:cs typeface="Inter"/>
                <a:sym typeface="Inter"/>
              </a:rPr>
              <a:t>). If you have any concerns about behavior, please contact the </a:t>
            </a:r>
            <a:r>
              <a:rPr lang="en-US" sz="1200" i="1">
                <a:solidFill>
                  <a:srgbClr val="000000"/>
                </a:solidFill>
                <a:latin typeface="Inter"/>
                <a:ea typeface="Inter"/>
                <a:cs typeface="Inter"/>
                <a:sym typeface="Inter"/>
              </a:rPr>
              <a:t>Ombudsteam</a:t>
            </a:r>
            <a:r>
              <a:rPr lang="en-US" sz="1200">
                <a:solidFill>
                  <a:srgbClr val="000000"/>
                </a:solidFill>
                <a:latin typeface="Inter"/>
                <a:ea typeface="Inter"/>
                <a:cs typeface="Inter"/>
                <a:sym typeface="Inter"/>
              </a:rPr>
              <a:t> who have a duty of confidentiality and extensive powers to act, as set out in </a:t>
            </a:r>
            <a:r>
              <a:rPr lang="en-US" sz="1200" b="1">
                <a:solidFill>
                  <a:srgbClr val="000000"/>
                </a:solidFill>
                <a:latin typeface="Inter"/>
                <a:ea typeface="Inter"/>
                <a:cs typeface="Inter"/>
                <a:sym typeface="Inter"/>
              </a:rPr>
              <a:t>RFC 7776: IETF Anti-Harassment Procedures</a:t>
            </a:r>
            <a:r>
              <a:rPr lang="en-US" sz="1200">
                <a:solidFill>
                  <a:srgbClr val="000000"/>
                </a:solidFill>
                <a:latin typeface="Inter"/>
                <a:ea typeface="Inter"/>
                <a:cs typeface="Inter"/>
                <a:sym typeface="Inter"/>
              </a:rPr>
              <a:t>.</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If you are aware that any IETF contribution (as defined in </a:t>
            </a:r>
            <a:r>
              <a:rPr lang="en-US" sz="1200" b="1">
                <a:solidFill>
                  <a:srgbClr val="000000"/>
                </a:solidFill>
                <a:latin typeface="Inter"/>
                <a:ea typeface="Inter"/>
                <a:cs typeface="Inter"/>
                <a:sym typeface="Inter"/>
              </a:rPr>
              <a:t>RFC 5378: Rights Contributors Provide to the IETF Trust</a:t>
            </a:r>
            <a:r>
              <a:rPr lang="en-US" sz="1200">
                <a:solidFill>
                  <a:srgbClr val="000000"/>
                </a:solidFill>
                <a:latin typeface="Inter"/>
                <a:ea typeface="Inter"/>
                <a:cs typeface="Inter"/>
                <a:sym typeface="Inter"/>
              </a:rPr>
              <a:t>) is covered by patents or patent applications that are owned or controlled by you, your employer or your sponsor, you must disclose that fact, </a:t>
            </a:r>
            <a:br>
              <a:rPr lang="en-US" sz="1200">
                <a:solidFill>
                  <a:srgbClr val="000000"/>
                </a:solidFill>
                <a:latin typeface="Inter"/>
                <a:ea typeface="Inter"/>
                <a:cs typeface="Inter"/>
                <a:sym typeface="Inter"/>
              </a:rPr>
            </a:br>
            <a:r>
              <a:rPr lang="en-US" sz="1200">
                <a:solidFill>
                  <a:srgbClr val="000000"/>
                </a:solidFill>
                <a:latin typeface="Inter"/>
                <a:ea typeface="Inter"/>
                <a:cs typeface="Inter"/>
                <a:sym typeface="Inter"/>
              </a:rPr>
              <a:t>or not participate in the discussion </a:t>
            </a:r>
            <a:r>
              <a:rPr lang="en-US" sz="1200">
                <a:latin typeface="Inter"/>
                <a:ea typeface="Inter"/>
                <a:cs typeface="Inter"/>
                <a:sym typeface="Inter"/>
              </a:rPr>
              <a:t> </a:t>
            </a:r>
            <a:r>
              <a:rPr lang="en-US" sz="1200">
                <a:solidFill>
                  <a:srgbClr val="000000"/>
                </a:solidFill>
                <a:latin typeface="Inter"/>
                <a:ea typeface="Inter"/>
                <a:cs typeface="Inter"/>
                <a:sym typeface="Inter"/>
              </a:rPr>
              <a:t>(see </a:t>
            </a:r>
            <a:r>
              <a:rPr lang="en-US" sz="1200" b="1">
                <a:solidFill>
                  <a:srgbClr val="000000"/>
                </a:solidFill>
                <a:latin typeface="Inter"/>
                <a:ea typeface="Inter"/>
                <a:cs typeface="Inter"/>
                <a:sym typeface="Inter"/>
              </a:rPr>
              <a:t>RFC 8179: Intellectual Property Rights in IETF Technology</a:t>
            </a:r>
            <a:r>
              <a:rPr lang="en-US" sz="1200">
                <a:solidFill>
                  <a:srgbClr val="000000"/>
                </a:solidFill>
                <a:latin typeface="Inter"/>
                <a:ea typeface="Inter"/>
                <a:cs typeface="Inter"/>
                <a:sym typeface="Inter"/>
              </a:rPr>
              <a:t>).</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For detailed process information consult </a:t>
            </a:r>
            <a:r>
              <a:rPr lang="en-US" sz="1200" b="1">
                <a:solidFill>
                  <a:srgbClr val="000000"/>
                </a:solidFill>
                <a:latin typeface="Inter"/>
                <a:ea typeface="Inter"/>
                <a:cs typeface="Inter"/>
                <a:sym typeface="Inter"/>
              </a:rPr>
              <a:t>RFC 2026: Internet Standards Process</a:t>
            </a:r>
            <a:r>
              <a:rPr lang="en-US" sz="1200">
                <a:solidFill>
                  <a:srgbClr val="000000"/>
                </a:solidFill>
                <a:latin typeface="Inter"/>
                <a:ea typeface="Inter"/>
                <a:cs typeface="Inter"/>
                <a:sym typeface="Inter"/>
              </a:rPr>
              <a:t> and </a:t>
            </a:r>
            <a:br>
              <a:rPr lang="en-US" sz="1200">
                <a:solidFill>
                  <a:srgbClr val="000000"/>
                </a:solidFill>
                <a:latin typeface="Inter"/>
                <a:ea typeface="Inter"/>
                <a:cs typeface="Inter"/>
                <a:sym typeface="Inter"/>
              </a:rPr>
            </a:br>
            <a:r>
              <a:rPr lang="en-US" sz="1200" i="1">
                <a:solidFill>
                  <a:srgbClr val="000000"/>
                </a:solidFill>
                <a:latin typeface="Inter"/>
                <a:ea typeface="Inter"/>
                <a:cs typeface="Inter"/>
                <a:sym typeface="Inter"/>
              </a:rPr>
              <a:t>RFC 2418: </a:t>
            </a:r>
            <a:r>
              <a:rPr lang="en-US" sz="1200" b="1">
                <a:solidFill>
                  <a:srgbClr val="000000"/>
                </a:solidFill>
                <a:latin typeface="Inter"/>
                <a:ea typeface="Inter"/>
                <a:cs typeface="Inter"/>
                <a:sym typeface="Inter"/>
              </a:rPr>
              <a:t>IETF Working Group Guidelines and Procedures</a:t>
            </a:r>
            <a:r>
              <a:rPr lang="en-US" sz="1200">
                <a:solidFill>
                  <a:srgbClr val="000000"/>
                </a:solidFill>
                <a:latin typeface="Inter"/>
                <a:ea typeface="Inter"/>
                <a:cs typeface="Inter"/>
                <a:sym typeface="Inter"/>
              </a:rPr>
              <a:t> and updates to those.</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The IETF routinely makes public written, audio, video, and photographic records </a:t>
            </a:r>
            <a:br>
              <a:rPr lang="en-US" sz="1200">
                <a:solidFill>
                  <a:srgbClr val="000000"/>
                </a:solidFill>
                <a:latin typeface="Inter"/>
                <a:ea typeface="Inter"/>
                <a:cs typeface="Inter"/>
                <a:sym typeface="Inter"/>
              </a:rPr>
            </a:br>
            <a:r>
              <a:rPr lang="en-US" sz="1200">
                <a:solidFill>
                  <a:srgbClr val="000000"/>
                </a:solidFill>
                <a:latin typeface="Inter"/>
                <a:ea typeface="Inter"/>
                <a:cs typeface="Inter"/>
                <a:sym typeface="Inter"/>
              </a:rPr>
              <a:t>of IETF activities, including your personal information as set out in the </a:t>
            </a:r>
            <a:r>
              <a:rPr lang="en-US" sz="1200" b="1">
                <a:solidFill>
                  <a:srgbClr val="000000"/>
                </a:solidFill>
                <a:latin typeface="Inter"/>
                <a:ea typeface="Inter"/>
                <a:cs typeface="Inter"/>
                <a:sym typeface="Inter"/>
              </a:rPr>
              <a:t>IETF Privacy Statement</a:t>
            </a:r>
            <a:r>
              <a:rPr lang="en-US" sz="1200">
                <a:solidFill>
                  <a:srgbClr val="000000"/>
                </a:solidFill>
                <a:latin typeface="Inter"/>
                <a:ea typeface="Inter"/>
                <a:cs typeface="Inter"/>
                <a:sym typeface="Inter"/>
              </a:rPr>
              <a:t>. </a:t>
            </a:r>
            <a:endParaRPr sz="1200">
              <a:solidFill>
                <a:srgbClr val="000000"/>
              </a:solidFill>
              <a:latin typeface="Inter"/>
              <a:ea typeface="Inter"/>
              <a:cs typeface="Inter"/>
              <a:sym typeface="Inter"/>
            </a:endParaRPr>
          </a:p>
          <a:p>
            <a:pPr marL="0" lvl="0" indent="0" algn="l" rtl="0">
              <a:lnSpc>
                <a:spcPct val="115000"/>
              </a:lnSpc>
              <a:spcBef>
                <a:spcPts val="1000"/>
              </a:spcBef>
              <a:spcAft>
                <a:spcPts val="1000"/>
              </a:spcAft>
              <a:buNone/>
            </a:pPr>
            <a:r>
              <a:rPr lang="en-US" sz="1200">
                <a:solidFill>
                  <a:srgbClr val="000000"/>
                </a:solidFill>
                <a:latin typeface="Inter"/>
                <a:ea typeface="Inter"/>
                <a:cs typeface="Inter"/>
                <a:sym typeface="Inter"/>
              </a:rPr>
              <a:t>For advice, please talk to Working Group chairs or Area Directors.</a:t>
            </a:r>
            <a:endParaRPr sz="1200">
              <a:solidFill>
                <a:srgbClr val="434343"/>
              </a:solidFill>
              <a:latin typeface="Inter"/>
              <a:ea typeface="Inter"/>
              <a:cs typeface="Inter"/>
              <a:sym typeface="Inter"/>
            </a:endParaRPr>
          </a:p>
        </p:txBody>
      </p:sp>
      <p:pic>
        <p:nvPicPr>
          <p:cNvPr id="110" name="Google Shape;110;p20"/>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8CFE40-1876-9D19-C6B0-60E6AF209C91}"/>
              </a:ext>
            </a:extLst>
          </p:cNvPr>
          <p:cNvSpPr>
            <a:spLocks noGrp="1"/>
          </p:cNvSpPr>
          <p:nvPr>
            <p:ph type="title"/>
          </p:nvPr>
        </p:nvSpPr>
        <p:spPr/>
        <p:txBody>
          <a:bodyPr/>
          <a:lstStyle/>
          <a:p>
            <a:r>
              <a:rPr lang="en-US" dirty="0"/>
              <a:t>Agenda</a:t>
            </a:r>
          </a:p>
        </p:txBody>
      </p:sp>
      <p:sp>
        <p:nvSpPr>
          <p:cNvPr id="6" name="Text Placeholder 5">
            <a:extLst>
              <a:ext uri="{FF2B5EF4-FFF2-40B4-BE49-F238E27FC236}">
                <a16:creationId xmlns:a16="http://schemas.microsoft.com/office/drawing/2014/main" id="{377D0E8C-F25B-8ACB-C69E-D599D4465503}"/>
              </a:ext>
            </a:extLst>
          </p:cNvPr>
          <p:cNvSpPr>
            <a:spLocks noGrp="1"/>
          </p:cNvSpPr>
          <p:nvPr>
            <p:ph type="body" idx="1"/>
          </p:nvPr>
        </p:nvSpPr>
        <p:spPr/>
        <p:txBody>
          <a:bodyPr/>
          <a:lstStyle/>
          <a:p>
            <a:r>
              <a:rPr lang="en-US" dirty="0"/>
              <a:t>Proposed name and materials</a:t>
            </a:r>
          </a:p>
          <a:p>
            <a:endParaRPr lang="en-US" dirty="0"/>
          </a:p>
          <a:p>
            <a:r>
              <a:rPr lang="en-US" dirty="0"/>
              <a:t>FANN charter text discussion</a:t>
            </a:r>
          </a:p>
          <a:p>
            <a:endParaRPr lang="en-US" dirty="0"/>
          </a:p>
          <a:p>
            <a:r>
              <a:rPr lang="en-US" dirty="0"/>
              <a:t>Next Steps</a:t>
            </a:r>
          </a:p>
        </p:txBody>
      </p:sp>
      <p:sp>
        <p:nvSpPr>
          <p:cNvPr id="4" name="Slide Number Placeholder 3">
            <a:extLst>
              <a:ext uri="{FF2B5EF4-FFF2-40B4-BE49-F238E27FC236}">
                <a16:creationId xmlns:a16="http://schemas.microsoft.com/office/drawing/2014/main" id="{DF34408E-C71A-DD19-9750-68108027F6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209849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CD64-C1B6-F220-74E0-DF1965241F0C}"/>
              </a:ext>
            </a:extLst>
          </p:cNvPr>
          <p:cNvSpPr>
            <a:spLocks noGrp="1"/>
          </p:cNvSpPr>
          <p:nvPr>
            <p:ph type="title"/>
          </p:nvPr>
        </p:nvSpPr>
        <p:spPr/>
        <p:txBody>
          <a:bodyPr/>
          <a:lstStyle/>
          <a:p>
            <a:r>
              <a:rPr lang="en-US" dirty="0"/>
              <a:t>Proposed name and materials</a:t>
            </a:r>
          </a:p>
        </p:txBody>
      </p:sp>
      <p:sp>
        <p:nvSpPr>
          <p:cNvPr id="3" name="Text Placeholder 2">
            <a:extLst>
              <a:ext uri="{FF2B5EF4-FFF2-40B4-BE49-F238E27FC236}">
                <a16:creationId xmlns:a16="http://schemas.microsoft.com/office/drawing/2014/main" id="{D1C7EF7B-F659-5CD5-C9DB-F5440CF3E54C}"/>
              </a:ext>
            </a:extLst>
          </p:cNvPr>
          <p:cNvSpPr>
            <a:spLocks noGrp="1"/>
          </p:cNvSpPr>
          <p:nvPr>
            <p:ph type="body" idx="1"/>
          </p:nvPr>
        </p:nvSpPr>
        <p:spPr/>
        <p:txBody>
          <a:bodyPr/>
          <a:lstStyle/>
          <a:p>
            <a:r>
              <a:rPr lang="en-US" dirty="0" err="1"/>
              <a:t>FAst</a:t>
            </a:r>
            <a:r>
              <a:rPr lang="en-US" dirty="0"/>
              <a:t> Network Notifications (FANN)</a:t>
            </a:r>
          </a:p>
          <a:p>
            <a:r>
              <a:rPr lang="en-US" dirty="0"/>
              <a:t>Mailing list:</a:t>
            </a:r>
          </a:p>
          <a:p>
            <a:pPr lvl="1">
              <a:spcBef>
                <a:spcPts val="0"/>
              </a:spcBef>
            </a:pPr>
            <a:r>
              <a:rPr lang="en-US" dirty="0">
                <a:hlinkClick r:id="rId2"/>
              </a:rPr>
              <a:t>fantel@ietf.org</a:t>
            </a:r>
            <a:endParaRPr lang="en-US" dirty="0"/>
          </a:p>
          <a:p>
            <a:pPr lvl="1">
              <a:spcBef>
                <a:spcPts val="0"/>
              </a:spcBef>
            </a:pPr>
            <a:r>
              <a:rPr lang="en-US" dirty="0">
                <a:hlinkClick r:id="rId3"/>
              </a:rPr>
              <a:t>https://mailarchive.ietf.org/arch/browse/fantel/</a:t>
            </a:r>
            <a:endParaRPr lang="en-US" dirty="0"/>
          </a:p>
          <a:p>
            <a:r>
              <a:rPr lang="en-US" dirty="0"/>
              <a:t>Fast Network Notifications Problem Statement (PS): </a:t>
            </a:r>
            <a:r>
              <a:rPr lang="en-US" dirty="0">
                <a:hlinkClick r:id="rId4"/>
              </a:rPr>
              <a:t>https://datatracker.ietf.org/doc/draft-ietf-rtgwg-net-notif-ps/</a:t>
            </a:r>
            <a:r>
              <a:rPr lang="en-US" dirty="0"/>
              <a:t> </a:t>
            </a:r>
          </a:p>
          <a:p>
            <a:r>
              <a:rPr lang="en-US" dirty="0"/>
              <a:t>GitHub:</a:t>
            </a:r>
          </a:p>
          <a:p>
            <a:pPr lvl="1">
              <a:spcBef>
                <a:spcPts val="0"/>
              </a:spcBef>
            </a:pPr>
            <a:r>
              <a:rPr lang="en-US" dirty="0"/>
              <a:t>PS I-D: </a:t>
            </a:r>
            <a:r>
              <a:rPr lang="en-US" dirty="0">
                <a:hlinkClick r:id="rId5"/>
              </a:rPr>
              <a:t>https://github.com/ietf-wg-rtgwg/draft-ietf-rtgwg-net-notif-ps</a:t>
            </a:r>
            <a:r>
              <a:rPr lang="en-US" dirty="0"/>
              <a:t> </a:t>
            </a:r>
          </a:p>
          <a:p>
            <a:pPr lvl="1">
              <a:spcBef>
                <a:spcPts val="0"/>
              </a:spcBef>
            </a:pPr>
            <a:r>
              <a:rPr lang="en-US" dirty="0"/>
              <a:t>FANN proposed charter: </a:t>
            </a:r>
            <a:r>
              <a:rPr lang="en-US" dirty="0">
                <a:hlinkClick r:id="rId6"/>
              </a:rPr>
              <a:t>https://github.com/Yingzhen-ietf/FANN-charter/</a:t>
            </a:r>
            <a:r>
              <a:rPr lang="en-US" dirty="0"/>
              <a:t> </a:t>
            </a:r>
          </a:p>
        </p:txBody>
      </p:sp>
      <p:sp>
        <p:nvSpPr>
          <p:cNvPr id="4" name="Slide Number Placeholder 3">
            <a:extLst>
              <a:ext uri="{FF2B5EF4-FFF2-40B4-BE49-F238E27FC236}">
                <a16:creationId xmlns:a16="http://schemas.microsoft.com/office/drawing/2014/main" id="{F8E1DC65-6055-4718-03DB-0D28D76E269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4070829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EF20-5363-B194-3246-004B25321B76}"/>
              </a:ext>
            </a:extLst>
          </p:cNvPr>
          <p:cNvSpPr>
            <a:spLocks noGrp="1"/>
          </p:cNvSpPr>
          <p:nvPr>
            <p:ph type="title"/>
          </p:nvPr>
        </p:nvSpPr>
        <p:spPr/>
        <p:txBody>
          <a:bodyPr/>
          <a:lstStyle/>
          <a:p>
            <a:r>
              <a:rPr lang="en-US" dirty="0"/>
              <a:t>FANN charter text discussion</a:t>
            </a:r>
            <a:br>
              <a:rPr lang="en-US" dirty="0"/>
            </a:br>
            <a:r>
              <a:rPr lang="en-US" dirty="0"/>
              <a:t>Overview </a:t>
            </a:r>
          </a:p>
        </p:txBody>
      </p:sp>
      <p:sp>
        <p:nvSpPr>
          <p:cNvPr id="3" name="Text Placeholder 2">
            <a:extLst>
              <a:ext uri="{FF2B5EF4-FFF2-40B4-BE49-F238E27FC236}">
                <a16:creationId xmlns:a16="http://schemas.microsoft.com/office/drawing/2014/main" id="{71054049-D78F-EF4D-C715-FB72C06E35E4}"/>
              </a:ext>
            </a:extLst>
          </p:cNvPr>
          <p:cNvSpPr>
            <a:spLocks noGrp="1"/>
          </p:cNvSpPr>
          <p:nvPr>
            <p:ph type="body" idx="1"/>
          </p:nvPr>
        </p:nvSpPr>
        <p:spPr/>
        <p:txBody>
          <a:bodyPr/>
          <a:lstStyle/>
          <a:p>
            <a:pPr marL="114300" indent="0">
              <a:buNone/>
            </a:pPr>
            <a:r>
              <a:rPr lang="en-US" sz="1100" dirty="0"/>
              <a:t>Modern network applications, ranging from AI/ML training to cloud services, require adaptive networks to ensure reliable and congestion-free data transfer within or across multiple data centers. However, existing traffic management mechanisms often face limitations in responsiveness, coverage, and operational complexity, particularly in high-speed, large-scale, dynamic network environments.</a:t>
            </a:r>
          </a:p>
          <a:p>
            <a:pPr marL="114300" indent="0">
              <a:buNone/>
            </a:pPr>
            <a:endParaRPr lang="en-US" sz="1100" dirty="0"/>
          </a:p>
          <a:p>
            <a:pPr marL="114300" indent="0">
              <a:buNone/>
            </a:pPr>
            <a:r>
              <a:rPr lang="en-US" sz="1100" dirty="0"/>
              <a:t>Modern network hardware is capable of detecting congestion, microbursts and other local status at fine-grained time scales (ranging from microseconds to sub-millisecond), which outpaces the time needed for current mechanisms (e.g. control plane based information distribution or management plane based information collection） to disseminate such information to relevant network nodes for their actions (e.g., traffic engineering (TE), load balancing, flow control, and protection switching etc.), leading to suboptimal performance, delayed recovery, congestion, and inefficient resource utilization.</a:t>
            </a:r>
          </a:p>
          <a:p>
            <a:pPr marL="114300" indent="0">
              <a:buNone/>
            </a:pPr>
            <a:endParaRPr lang="en-US" sz="1100" dirty="0"/>
          </a:p>
          <a:p>
            <a:pPr marL="114300" indent="0">
              <a:buNone/>
            </a:pPr>
            <a:r>
              <a:rPr lang="en-US" sz="1100" dirty="0"/>
              <a:t>The </a:t>
            </a:r>
            <a:r>
              <a:rPr lang="en-US" sz="1100" dirty="0" err="1"/>
              <a:t>FAst</a:t>
            </a:r>
            <a:r>
              <a:rPr lang="en-US" sz="1100" dirty="0"/>
              <a:t> Network Notification (FANN) Working Group is chartered to specify the protocols, mechanisms, and procedures for on-demand, fast notifications of fine-grained network status information, which allow network nodes that may take response actions to learn quickly about the network conditions.</a:t>
            </a:r>
          </a:p>
        </p:txBody>
      </p:sp>
      <p:sp>
        <p:nvSpPr>
          <p:cNvPr id="4" name="Slide Number Placeholder 3">
            <a:extLst>
              <a:ext uri="{FF2B5EF4-FFF2-40B4-BE49-F238E27FC236}">
                <a16:creationId xmlns:a16="http://schemas.microsoft.com/office/drawing/2014/main" id="{969A5CA7-FE8B-708A-1278-1D27FE8D385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76691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10166-86B4-0CDE-7583-0E584C03D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8AD64-41A7-2E69-E0DC-099CB69A256D}"/>
              </a:ext>
            </a:extLst>
          </p:cNvPr>
          <p:cNvSpPr>
            <a:spLocks noGrp="1"/>
          </p:cNvSpPr>
          <p:nvPr>
            <p:ph type="title"/>
          </p:nvPr>
        </p:nvSpPr>
        <p:spPr/>
        <p:txBody>
          <a:bodyPr/>
          <a:lstStyle/>
          <a:p>
            <a:r>
              <a:rPr lang="en-US" dirty="0"/>
              <a:t>FANN charter text discussion</a:t>
            </a:r>
            <a:br>
              <a:rPr lang="en-US" dirty="0"/>
            </a:br>
            <a:r>
              <a:rPr lang="en-US" dirty="0"/>
              <a:t>Scope </a:t>
            </a:r>
          </a:p>
        </p:txBody>
      </p:sp>
      <p:sp>
        <p:nvSpPr>
          <p:cNvPr id="3" name="Text Placeholder 2">
            <a:extLst>
              <a:ext uri="{FF2B5EF4-FFF2-40B4-BE49-F238E27FC236}">
                <a16:creationId xmlns:a16="http://schemas.microsoft.com/office/drawing/2014/main" id="{9D92361F-AD4A-B5D3-AF6E-51EB89113D49}"/>
              </a:ext>
            </a:extLst>
          </p:cNvPr>
          <p:cNvSpPr>
            <a:spLocks noGrp="1"/>
          </p:cNvSpPr>
          <p:nvPr>
            <p:ph type="body" idx="1"/>
          </p:nvPr>
        </p:nvSpPr>
        <p:spPr/>
        <p:txBody>
          <a:bodyPr/>
          <a:lstStyle/>
          <a:p>
            <a:pPr marL="114300" indent="0">
              <a:buNone/>
            </a:pPr>
            <a:r>
              <a:rPr lang="en-US" sz="1050" dirty="0"/>
              <a:t>The network condition data that may be advertised using fast network notifications includes link failure, link congestion, SLA violations, and queue build-up etc. An information model may be defined to structure the network condition data in a standardized way for effective dissemination and actions.</a:t>
            </a:r>
          </a:p>
          <a:p>
            <a:pPr marL="114300" indent="0">
              <a:buNone/>
            </a:pPr>
            <a:endParaRPr lang="en-US" sz="1050" dirty="0"/>
          </a:p>
          <a:p>
            <a:pPr marL="114300" indent="0">
              <a:buNone/>
            </a:pPr>
            <a:r>
              <a:rPr lang="en-US" sz="1050" dirty="0"/>
              <a:t>The fast network notifications may be used in network scenarios including Data Center Networks (DCN) and Wide Area Networks (WAN) which provide inter-connection between multiple data centers. The specific protocols and mechanisms may be different to meet the requirements in different network scenarios.</a:t>
            </a:r>
          </a:p>
          <a:p>
            <a:pPr marL="114300" indent="0">
              <a:buNone/>
            </a:pPr>
            <a:endParaRPr lang="en-US" sz="1050" dirty="0"/>
          </a:p>
          <a:p>
            <a:pPr marL="114300" indent="0">
              <a:buNone/>
            </a:pPr>
            <a:r>
              <a:rPr lang="en-US" sz="1050" dirty="0"/>
              <a:t>It is considered that the protocols and mechanisms of fast network notifications can be applied to different data plane technologies in layer-3 (e.g. IPv4, IPv6, SRv6 and MPLS), and the mechanisms can be useful for the management of both the TE traffic and the traffic which takes the shortest paths. </a:t>
            </a:r>
          </a:p>
          <a:p>
            <a:pPr marL="114300" indent="0">
              <a:buNone/>
            </a:pPr>
            <a:endParaRPr lang="en-US" sz="1050" dirty="0"/>
          </a:p>
          <a:p>
            <a:pPr marL="114300" indent="0">
              <a:buNone/>
            </a:pPr>
            <a:r>
              <a:rPr lang="en-US" sz="1050" dirty="0"/>
              <a:t>The FANN WG will identify the threat models for fast network notifications, and will address the security considerations introduced by the protocols it define. </a:t>
            </a:r>
          </a:p>
          <a:p>
            <a:pPr marL="114300" indent="0">
              <a:buNone/>
            </a:pPr>
            <a:endParaRPr lang="en-US" sz="1050" dirty="0"/>
          </a:p>
          <a:p>
            <a:pPr marL="114300" indent="0">
              <a:buNone/>
            </a:pPr>
            <a:r>
              <a:rPr lang="en-US" sz="1050" dirty="0"/>
              <a:t>The mechanisms for detecting network condition changes and the specific mechanisms for acting upon receiving the fast notifications are out of scope.</a:t>
            </a:r>
          </a:p>
        </p:txBody>
      </p:sp>
      <p:sp>
        <p:nvSpPr>
          <p:cNvPr id="4" name="Slide Number Placeholder 3">
            <a:extLst>
              <a:ext uri="{FF2B5EF4-FFF2-40B4-BE49-F238E27FC236}">
                <a16:creationId xmlns:a16="http://schemas.microsoft.com/office/drawing/2014/main" id="{0D977B2E-B90A-8C3A-42DD-E3E020CE099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3186811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BBD8-0ED3-7083-7655-A60AAEA5A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CDFE8-C443-21F0-7CD2-9A189ED5B5E9}"/>
              </a:ext>
            </a:extLst>
          </p:cNvPr>
          <p:cNvSpPr>
            <a:spLocks noGrp="1"/>
          </p:cNvSpPr>
          <p:nvPr>
            <p:ph type="title"/>
          </p:nvPr>
        </p:nvSpPr>
        <p:spPr/>
        <p:txBody>
          <a:bodyPr/>
          <a:lstStyle/>
          <a:p>
            <a:r>
              <a:rPr lang="en-US" dirty="0"/>
              <a:t>FANN charter text discussion</a:t>
            </a:r>
            <a:br>
              <a:rPr lang="en-US" dirty="0"/>
            </a:br>
            <a:r>
              <a:rPr lang="en-US" dirty="0"/>
              <a:t>Work Items </a:t>
            </a:r>
          </a:p>
        </p:txBody>
      </p:sp>
      <p:sp>
        <p:nvSpPr>
          <p:cNvPr id="3" name="Text Placeholder 2">
            <a:extLst>
              <a:ext uri="{FF2B5EF4-FFF2-40B4-BE49-F238E27FC236}">
                <a16:creationId xmlns:a16="http://schemas.microsoft.com/office/drawing/2014/main" id="{41A7E2FC-BFA3-98EF-7D05-633E71D1AA09}"/>
              </a:ext>
            </a:extLst>
          </p:cNvPr>
          <p:cNvSpPr>
            <a:spLocks noGrp="1"/>
          </p:cNvSpPr>
          <p:nvPr>
            <p:ph type="body" idx="1"/>
          </p:nvPr>
        </p:nvSpPr>
        <p:spPr>
          <a:xfrm>
            <a:off x="325354" y="1794600"/>
            <a:ext cx="8066400" cy="2710125"/>
          </a:xfrm>
        </p:spPr>
        <p:txBody>
          <a:bodyPr/>
          <a:lstStyle/>
          <a:p>
            <a:pPr marL="114300" indent="0">
              <a:buNone/>
            </a:pPr>
            <a:r>
              <a:rPr lang="en-US" sz="1000" dirty="0"/>
              <a:t>The WG will produce documents to address the following points:</a:t>
            </a:r>
          </a:p>
          <a:p>
            <a:pPr>
              <a:buSzPct val="100000"/>
            </a:pPr>
            <a:r>
              <a:rPr lang="en-US" sz="1000" dirty="0"/>
              <a:t>Requirements and Gap Analysis</a:t>
            </a:r>
          </a:p>
          <a:p>
            <a:pPr lvl="1">
              <a:spcBef>
                <a:spcPts val="0"/>
              </a:spcBef>
              <a:buSzPct val="100000"/>
            </a:pPr>
            <a:r>
              <a:rPr lang="en-US" sz="1000" dirty="0"/>
              <a:t>Provide the definition of "fast network notification".</a:t>
            </a:r>
          </a:p>
          <a:p>
            <a:pPr lvl="1">
              <a:spcBef>
                <a:spcPts val="0"/>
              </a:spcBef>
              <a:buSzPct val="100000"/>
            </a:pPr>
            <a:r>
              <a:rPr lang="en-US" sz="1000" dirty="0"/>
              <a:t>Consider use cases where fast network notification can significantly improve the effect and efficiency of traffic management mechanisms.</a:t>
            </a:r>
          </a:p>
          <a:p>
            <a:pPr lvl="1">
              <a:spcBef>
                <a:spcPts val="0"/>
              </a:spcBef>
              <a:buSzPct val="100000"/>
            </a:pPr>
            <a:r>
              <a:rPr lang="en-US" sz="1000" dirty="0"/>
              <a:t>For each use case, describe the requirements on the information needed, the time scale of the notification, and the actions to be performed.</a:t>
            </a:r>
          </a:p>
          <a:p>
            <a:pPr lvl="1">
              <a:spcBef>
                <a:spcPts val="0"/>
              </a:spcBef>
              <a:buSzPct val="100000"/>
            </a:pPr>
            <a:r>
              <a:rPr lang="en-US" sz="1000" dirty="0"/>
              <a:t>Identify the gaps for fast network notification mechanisms.  </a:t>
            </a:r>
          </a:p>
          <a:p>
            <a:pPr>
              <a:buSzPct val="100000"/>
            </a:pPr>
            <a:r>
              <a:rPr lang="en-US" sz="1000" dirty="0"/>
              <a:t>Define an Information Model of fast network notifications</a:t>
            </a:r>
          </a:p>
          <a:p>
            <a:pPr lvl="1">
              <a:spcBef>
                <a:spcPts val="0"/>
              </a:spcBef>
              <a:buSzPct val="100000"/>
            </a:pPr>
            <a:r>
              <a:rPr lang="en-US" sz="1000" dirty="0"/>
              <a:t>Develop an Information Model that structures real-time network condition data in a standardized way for effective dissemination and actions.</a:t>
            </a:r>
          </a:p>
          <a:p>
            <a:pPr lvl="1">
              <a:spcBef>
                <a:spcPts val="0"/>
              </a:spcBef>
              <a:buSzPct val="100000"/>
            </a:pPr>
            <a:r>
              <a:rPr lang="en-US" sz="1000" dirty="0"/>
              <a:t>Define the requirements of the data needed for functions/actions including but not limited to traffic engineering, load balancing, flow control and protection switching.</a:t>
            </a:r>
          </a:p>
          <a:p>
            <a:pPr>
              <a:buSzPct val="100000"/>
            </a:pPr>
            <a:r>
              <a:rPr lang="en-US" sz="1000" dirty="0"/>
              <a:t>Develop Fast Network Notification protocols and the related mechanisms</a:t>
            </a:r>
          </a:p>
          <a:p>
            <a:pPr lvl="1">
              <a:spcBef>
                <a:spcPts val="0"/>
              </a:spcBef>
              <a:buSzPct val="100000"/>
            </a:pPr>
            <a:r>
              <a:rPr lang="en-US" sz="1000" dirty="0"/>
              <a:t>Specify the fast network notification protocols and mechanisms that allow network nodes that may take response actions to learn quickly about network conditions. Different protocols may be defined to meet the requirements in different network scenarios. </a:t>
            </a:r>
          </a:p>
          <a:p>
            <a:pPr marL="114300" indent="0">
              <a:buNone/>
            </a:pPr>
            <a:endParaRPr lang="en-US" sz="1000" dirty="0"/>
          </a:p>
          <a:p>
            <a:pPr marL="114300" indent="0">
              <a:buNone/>
            </a:pPr>
            <a:endParaRPr lang="en-US" sz="1000" dirty="0"/>
          </a:p>
        </p:txBody>
      </p:sp>
      <p:sp>
        <p:nvSpPr>
          <p:cNvPr id="4" name="Slide Number Placeholder 3">
            <a:extLst>
              <a:ext uri="{FF2B5EF4-FFF2-40B4-BE49-F238E27FC236}">
                <a16:creationId xmlns:a16="http://schemas.microsoft.com/office/drawing/2014/main" id="{52523384-6106-62AE-FCAD-5E6C7798A97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3490564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E7DC-46E8-EB7A-A15E-96F2475CB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F7534-EFC9-B46F-36B0-8AA5547AD9E8}"/>
              </a:ext>
            </a:extLst>
          </p:cNvPr>
          <p:cNvSpPr>
            <a:spLocks noGrp="1"/>
          </p:cNvSpPr>
          <p:nvPr>
            <p:ph type="title"/>
          </p:nvPr>
        </p:nvSpPr>
        <p:spPr/>
        <p:txBody>
          <a:bodyPr/>
          <a:lstStyle/>
          <a:p>
            <a:r>
              <a:rPr lang="en-US" dirty="0"/>
              <a:t>FANN charter text discussion</a:t>
            </a:r>
            <a:br>
              <a:rPr lang="en-US" dirty="0"/>
            </a:br>
            <a:r>
              <a:rPr lang="en-US" dirty="0"/>
              <a:t>Collaborations </a:t>
            </a:r>
          </a:p>
        </p:txBody>
      </p:sp>
      <p:sp>
        <p:nvSpPr>
          <p:cNvPr id="3" name="Text Placeholder 2">
            <a:extLst>
              <a:ext uri="{FF2B5EF4-FFF2-40B4-BE49-F238E27FC236}">
                <a16:creationId xmlns:a16="http://schemas.microsoft.com/office/drawing/2014/main" id="{119A45EE-0344-ECD2-29B9-FFD5118DAC02}"/>
              </a:ext>
            </a:extLst>
          </p:cNvPr>
          <p:cNvSpPr>
            <a:spLocks noGrp="1"/>
          </p:cNvSpPr>
          <p:nvPr>
            <p:ph type="body" idx="1"/>
          </p:nvPr>
        </p:nvSpPr>
        <p:spPr/>
        <p:txBody>
          <a:bodyPr/>
          <a:lstStyle/>
          <a:p>
            <a:pPr marL="114300" indent="0">
              <a:buNone/>
            </a:pPr>
            <a:r>
              <a:rPr lang="en-US" sz="1050" dirty="0"/>
              <a:t>The FANN WG will collaborate closely with the TEAS WG to define the data needed for actions of traffic engineering mechanisms. It will collaborate with RTGWG for actions of Fast Reroute (FRR) and other protection mechanisms. It may collaborate with IDR and LSR WGs for the data needed by BGP and the IGPs. As needed, the WG will also coordinate with other relevant groups to communicate potential needs related to detection and data collection.</a:t>
            </a:r>
          </a:p>
        </p:txBody>
      </p:sp>
      <p:sp>
        <p:nvSpPr>
          <p:cNvPr id="4" name="Slide Number Placeholder 3">
            <a:extLst>
              <a:ext uri="{FF2B5EF4-FFF2-40B4-BE49-F238E27FC236}">
                <a16:creationId xmlns:a16="http://schemas.microsoft.com/office/drawing/2014/main" id="{A36AEA7F-3374-9309-9AB8-BB18B23103B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5294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70B1-77A7-74E1-58C1-E1CCA0B45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28357-13A2-3385-7B4A-F61FECE650DE}"/>
              </a:ext>
            </a:extLst>
          </p:cNvPr>
          <p:cNvSpPr>
            <a:spLocks noGrp="1"/>
          </p:cNvSpPr>
          <p:nvPr>
            <p:ph type="title"/>
          </p:nvPr>
        </p:nvSpPr>
        <p:spPr/>
        <p:txBody>
          <a:bodyPr/>
          <a:lstStyle/>
          <a:p>
            <a:r>
              <a:rPr lang="en-US" dirty="0"/>
              <a:t>Next Steps</a:t>
            </a:r>
          </a:p>
        </p:txBody>
      </p:sp>
      <p:sp>
        <p:nvSpPr>
          <p:cNvPr id="4" name="Slide Number Placeholder 3">
            <a:extLst>
              <a:ext uri="{FF2B5EF4-FFF2-40B4-BE49-F238E27FC236}">
                <a16:creationId xmlns:a16="http://schemas.microsoft.com/office/drawing/2014/main" id="{87396253-4D54-02CB-0E91-E4EEADC85EB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sp>
        <p:nvSpPr>
          <p:cNvPr id="6" name="Text Placeholder 5">
            <a:extLst>
              <a:ext uri="{FF2B5EF4-FFF2-40B4-BE49-F238E27FC236}">
                <a16:creationId xmlns:a16="http://schemas.microsoft.com/office/drawing/2014/main" id="{D788F5EE-70AE-14BF-B311-98370FED5A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5187763"/>
      </p:ext>
    </p:extLst>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1248</Words>
  <Application>Microsoft Macintosh PowerPoint</Application>
  <PresentationFormat>On-screen Show (16:9)</PresentationFormat>
  <Paragraphs>78</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Open Sans</vt:lpstr>
      <vt:lpstr>Montserrat</vt:lpstr>
      <vt:lpstr>Inter</vt:lpstr>
      <vt:lpstr>Arial</vt:lpstr>
      <vt:lpstr>Roboto</vt:lpstr>
      <vt:lpstr>Open Sans Medium</vt:lpstr>
      <vt:lpstr>Open Sans SemiBold</vt:lpstr>
      <vt:lpstr>Material</vt:lpstr>
      <vt:lpstr>IETF Template</vt:lpstr>
      <vt:lpstr>IETF 125</vt:lpstr>
      <vt:lpstr>Note Well</vt:lpstr>
      <vt:lpstr>Agenda</vt:lpstr>
      <vt:lpstr>Proposed name and materials</vt:lpstr>
      <vt:lpstr>FANN charter text discussion Overview </vt:lpstr>
      <vt:lpstr>FANN charter text discussion Scope </vt:lpstr>
      <vt:lpstr>FANN charter text discussion Work Items </vt:lpstr>
      <vt:lpstr>FANN charter text discussion Collaborations </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Carlos J. Bernardos</cp:lastModifiedBy>
  <cp:revision>1</cp:revision>
  <dcterms:modified xsi:type="dcterms:W3CDTF">2026-03-12T14:40:33Z</dcterms:modified>
</cp:coreProperties>
</file>